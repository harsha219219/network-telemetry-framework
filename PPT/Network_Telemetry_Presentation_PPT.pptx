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50" d="100"/>
          <a:sy n="50" d="100"/>
        </p:scale>
        <p:origin x="1260" y="32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356725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14" name="Picture 13" descr="a_clean_modern_presentation_title_slide_cover_pa.png">
            <a:extLst>
              <a:ext uri="{FF2B5EF4-FFF2-40B4-BE49-F238E27FC236}">
                <a16:creationId xmlns:a16="http://schemas.microsoft.com/office/drawing/2014/main" id="{CDA2BC80-A6FF-FC28-99F0-A243E20E816F}"/>
              </a:ext>
            </a:extLst>
          </p:cNvPr>
          <p:cNvPicPr>
            <a:picLocks noChangeAspect="1"/>
          </p:cNvPicPr>
          <p:nvPr/>
        </p:nvPicPr>
        <p:blipFill>
          <a:blip r:embed="rId3"/>
          <a:srcRect b="19"/>
          <a:stretch>
            <a:fillRect/>
          </a:stretch>
        </p:blipFill>
        <p:spPr>
          <a:xfrm>
            <a:off x="20" y="1282"/>
            <a:ext cx="12191980" cy="6856718"/>
          </a:xfrm>
          <a:prstGeom prst="rect">
            <a:avLst/>
          </a:prstGeom>
        </p:spPr>
      </p:pic>
      <p:pic>
        <p:nvPicPr>
          <p:cNvPr id="16" name="Picture 15">
            <a:extLst>
              <a:ext uri="{FF2B5EF4-FFF2-40B4-BE49-F238E27FC236}">
                <a16:creationId xmlns:a16="http://schemas.microsoft.com/office/drawing/2014/main" id="{3B6C1AEC-211D-0658-0668-D2CF4AC19EB5}"/>
              </a:ext>
            </a:extLst>
          </p:cNvPr>
          <p:cNvPicPr>
            <a:picLocks noChangeAspect="1"/>
          </p:cNvPicPr>
          <p:nvPr/>
        </p:nvPicPr>
        <p:blipFill>
          <a:blip r:embed="rId4"/>
          <a:stretch>
            <a:fillRect/>
          </a:stretch>
        </p:blipFill>
        <p:spPr>
          <a:xfrm>
            <a:off x="10667160" y="5434534"/>
            <a:ext cx="1016052" cy="273064"/>
          </a:xfrm>
          <a:prstGeom prst="rect">
            <a:avLst/>
          </a:prstGeom>
        </p:spPr>
      </p:pic>
      <p:sp>
        <p:nvSpPr>
          <p:cNvPr id="17" name="TextBox 16">
            <a:extLst>
              <a:ext uri="{FF2B5EF4-FFF2-40B4-BE49-F238E27FC236}">
                <a16:creationId xmlns:a16="http://schemas.microsoft.com/office/drawing/2014/main" id="{528AB3BD-F65C-E657-EDFC-110220D50E7D}"/>
              </a:ext>
            </a:extLst>
          </p:cNvPr>
          <p:cNvSpPr txBox="1"/>
          <p:nvPr/>
        </p:nvSpPr>
        <p:spPr>
          <a:xfrm>
            <a:off x="10902950" y="5344168"/>
            <a:ext cx="1131888" cy="338554"/>
          </a:xfrm>
          <a:prstGeom prst="rect">
            <a:avLst/>
          </a:prstGeom>
          <a:noFill/>
        </p:spPr>
        <p:txBody>
          <a:bodyPr wrap="square" rtlCol="0">
            <a:spAutoFit/>
          </a:bodyPr>
          <a:lstStyle/>
          <a:p>
            <a:r>
              <a:rPr lang="en-IN" sz="1600" dirty="0"/>
              <a:t>23110058</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92608"/>
            <a:ext cx="7315200" cy="274320"/>
          </a:xfrm>
          <a:prstGeom prst="rect">
            <a:avLst/>
          </a:prstGeom>
          <a:noFill/>
          <a:ln/>
        </p:spPr>
        <p:txBody>
          <a:bodyPr wrap="square" lIns="0" tIns="0" rIns="0" bIns="0" rtlCol="0" anchor="ctr"/>
          <a:lstStyle/>
          <a:p>
            <a:pPr marL="0" indent="0">
              <a:buNone/>
            </a:pPr>
            <a:r>
              <a:rPr lang="en-US" sz="1200" b="1" kern="0" spc="200" dirty="0">
                <a:solidFill>
                  <a:srgbClr val="0E6E8C"/>
                </a:solidFill>
                <a:latin typeface="Calibri" pitchFamily="34" charset="0"/>
                <a:ea typeface="Calibri" pitchFamily="34" charset="-122"/>
                <a:cs typeface="Calibri" pitchFamily="34" charset="-120"/>
              </a:rPr>
              <a:t>01 — PROBLEM &amp; OBJECTIVES</a:t>
            </a:r>
            <a:endParaRPr lang="en-US" sz="1200" dirty="0"/>
          </a:p>
        </p:txBody>
      </p:sp>
      <p:sp>
        <p:nvSpPr>
          <p:cNvPr id="3" name="Text 1"/>
          <p:cNvSpPr txBox="1"/>
          <p:nvPr/>
        </p:nvSpPr>
        <p:spPr>
          <a:xfrm>
            <a:off x="548640" y="566928"/>
            <a:ext cx="10515600" cy="640080"/>
          </a:xfrm>
          <a:prstGeom prst="rect">
            <a:avLst/>
          </a:prstGeom>
          <a:noFill/>
          <a:ln/>
        </p:spPr>
        <p:txBody>
          <a:bodyPr wrap="square" lIns="0" tIns="0" rIns="0" bIns="0" rtlCol="0" anchor="ctr"/>
          <a:lstStyle/>
          <a:p>
            <a:pPr marL="0" indent="0">
              <a:buNone/>
            </a:pPr>
            <a:r>
              <a:rPr lang="en-US" sz="3000" b="1" dirty="0">
                <a:solidFill>
                  <a:srgbClr val="1A1A1A"/>
                </a:solidFill>
                <a:latin typeface="Cambria" pitchFamily="34" charset="0"/>
                <a:ea typeface="Cambria" pitchFamily="34" charset="-122"/>
                <a:cs typeface="Cambria" pitchFamily="34" charset="-120"/>
              </a:rPr>
              <a:t>Problem Statement &amp; Objectives</a:t>
            </a:r>
            <a:endParaRPr lang="en-US" sz="3000" dirty="0"/>
          </a:p>
        </p:txBody>
      </p:sp>
      <p:sp>
        <p:nvSpPr>
          <p:cNvPr id="4" name="Shape 2"/>
          <p:cNvSpPr/>
          <p:nvPr/>
        </p:nvSpPr>
        <p:spPr>
          <a:xfrm>
            <a:off x="548640" y="1417320"/>
            <a:ext cx="5577840" cy="4800600"/>
          </a:xfrm>
          <a:prstGeom prst="rect">
            <a:avLst/>
          </a:prstGeom>
          <a:solidFill>
            <a:srgbClr val="F4F6F7"/>
          </a:solidFill>
          <a:ln/>
        </p:spPr>
        <p:txBody>
          <a:bodyPr/>
          <a:lstStyle/>
          <a:p>
            <a:endParaRPr lang="en-IN"/>
          </a:p>
        </p:txBody>
      </p:sp>
      <p:sp>
        <p:nvSpPr>
          <p:cNvPr id="5" name="Text 3"/>
          <p:cNvSpPr txBox="1"/>
          <p:nvPr/>
        </p:nvSpPr>
        <p:spPr>
          <a:xfrm>
            <a:off x="777240" y="1975104"/>
            <a:ext cx="5029200" cy="274320"/>
          </a:xfrm>
          <a:prstGeom prst="rect">
            <a:avLst/>
          </a:prstGeom>
          <a:noFill/>
          <a:ln/>
        </p:spPr>
        <p:txBody>
          <a:bodyPr wrap="square" lIns="0" tIns="0" rIns="0" bIns="0" rtlCol="0" anchor="ctr"/>
          <a:lstStyle/>
          <a:p>
            <a:pPr marL="0" indent="0">
              <a:buNone/>
            </a:pPr>
            <a:r>
              <a:rPr lang="en-US" sz="1600" b="1" kern="0" spc="150" dirty="0">
                <a:solidFill>
                  <a:srgbClr val="0E6E8C"/>
                </a:solidFill>
                <a:latin typeface="Calibri" pitchFamily="34" charset="0"/>
                <a:ea typeface="Calibri" pitchFamily="34" charset="-122"/>
                <a:cs typeface="Calibri" pitchFamily="34" charset="-120"/>
              </a:rPr>
              <a:t>THE PROBLEM</a:t>
            </a:r>
            <a:endParaRPr lang="en-US" sz="1600" dirty="0"/>
          </a:p>
        </p:txBody>
      </p:sp>
      <p:sp>
        <p:nvSpPr>
          <p:cNvPr id="6" name="Text 4"/>
          <p:cNvSpPr txBox="1"/>
          <p:nvPr/>
        </p:nvSpPr>
        <p:spPr>
          <a:xfrm>
            <a:off x="695960" y="1984248"/>
            <a:ext cx="5029200" cy="4023360"/>
          </a:xfrm>
          <a:prstGeom prst="rect">
            <a:avLst/>
          </a:prstGeom>
          <a:noFill/>
          <a:ln/>
        </p:spPr>
        <p:txBody>
          <a:bodyPr wrap="square" lIns="0" tIns="0" rIns="0" bIns="0" rtlCol="0" anchor="ctr"/>
          <a:lstStyle/>
          <a:p>
            <a:pPr marL="0" indent="0">
              <a:lnSpc>
                <a:spcPct val="100000"/>
              </a:lnSpc>
              <a:buNone/>
            </a:pPr>
            <a:r>
              <a:rPr lang="en-US" sz="1500" dirty="0">
                <a:solidFill>
                  <a:srgbClr val="1A1A1A"/>
                </a:solidFill>
                <a:latin typeface="Times New Roman" panose="02020603050405020304" pitchFamily="18" charset="0"/>
                <a:ea typeface="Calibri" pitchFamily="34" charset="-122"/>
                <a:cs typeface="Times New Roman" panose="02020603050405020304" pitchFamily="18" charset="0"/>
              </a:rPr>
              <a:t>Administrators need continuous visibility into bandwidth, latency, packet loss, and device availability to catch degradation before it affects users.
Manually polling devices or reading raw counters does not scale, and commercial monitoring suites are heavyweight and closed-source — unsuitable for an academic setting where every layer must be understood.
This project builds a complete, end-to-end telemetry pipeline from first principles: </a:t>
            </a:r>
            <a:r>
              <a:rPr lang="en-US" sz="1500" b="1" dirty="0">
                <a:solidFill>
                  <a:srgbClr val="1A1A1A"/>
                </a:solidFill>
                <a:latin typeface="Times New Roman" panose="02020603050405020304" pitchFamily="18" charset="0"/>
                <a:ea typeface="Calibri" pitchFamily="34" charset="-122"/>
                <a:cs typeface="Times New Roman" panose="02020603050405020304" pitchFamily="18" charset="0"/>
              </a:rPr>
              <a:t>raw SNMP counters in, calculated metrics and threshold-based alerts out, visualized in near real time.</a:t>
            </a:r>
            <a:endParaRPr lang="en-US" sz="1500" dirty="0">
              <a:latin typeface="Times New Roman" panose="02020603050405020304" pitchFamily="18" charset="0"/>
              <a:cs typeface="Times New Roman" panose="02020603050405020304" pitchFamily="18" charset="0"/>
            </a:endParaRPr>
          </a:p>
        </p:txBody>
      </p:sp>
      <p:sp>
        <p:nvSpPr>
          <p:cNvPr id="7" name="Text 5"/>
          <p:cNvSpPr txBox="1"/>
          <p:nvPr/>
        </p:nvSpPr>
        <p:spPr>
          <a:xfrm>
            <a:off x="6431280" y="1335024"/>
            <a:ext cx="5212080" cy="274320"/>
          </a:xfrm>
          <a:prstGeom prst="rect">
            <a:avLst/>
          </a:prstGeom>
          <a:noFill/>
          <a:ln/>
        </p:spPr>
        <p:txBody>
          <a:bodyPr wrap="square" lIns="0" tIns="0" rIns="0" bIns="0" rtlCol="0" anchor="ctr"/>
          <a:lstStyle/>
          <a:p>
            <a:pPr marL="0" indent="0">
              <a:buNone/>
            </a:pPr>
            <a:r>
              <a:rPr lang="en-US" sz="1600" b="1" kern="0" spc="150" dirty="0">
                <a:solidFill>
                  <a:srgbClr val="0E6E8C"/>
                </a:solidFill>
                <a:latin typeface="Times New Roman" panose="02020603050405020304" pitchFamily="18" charset="0"/>
                <a:ea typeface="Calibri" pitchFamily="34" charset="-122"/>
                <a:cs typeface="Times New Roman" panose="02020603050405020304" pitchFamily="18" charset="0"/>
              </a:rPr>
              <a:t>OBJECTIVES</a:t>
            </a:r>
            <a:endParaRPr lang="en-US" sz="1600" dirty="0">
              <a:latin typeface="Times New Roman" panose="02020603050405020304" pitchFamily="18" charset="0"/>
              <a:cs typeface="Times New Roman" panose="02020603050405020304" pitchFamily="18" charset="0"/>
            </a:endParaRPr>
          </a:p>
        </p:txBody>
      </p:sp>
      <p:sp>
        <p:nvSpPr>
          <p:cNvPr id="8" name="Shape 6"/>
          <p:cNvSpPr/>
          <p:nvPr/>
        </p:nvSpPr>
        <p:spPr>
          <a:xfrm>
            <a:off x="6400800" y="1856232"/>
            <a:ext cx="237744" cy="237744"/>
          </a:xfrm>
          <a:prstGeom prst="ellipse">
            <a:avLst/>
          </a:prstGeom>
          <a:solidFill>
            <a:srgbClr val="0E6E8C"/>
          </a:solidFill>
          <a:ln/>
        </p:spPr>
        <p:txBody>
          <a:bodyPr/>
          <a:lstStyle/>
          <a:p>
            <a:endParaRPr lang="en-IN"/>
          </a:p>
        </p:txBody>
      </p:sp>
      <p:sp>
        <p:nvSpPr>
          <p:cNvPr id="9" name="Text 7"/>
          <p:cNvSpPr txBox="1"/>
          <p:nvPr/>
        </p:nvSpPr>
        <p:spPr>
          <a:xfrm>
            <a:off x="6400800" y="1856232"/>
            <a:ext cx="237744" cy="23774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0" name="Text 8"/>
          <p:cNvSpPr txBox="1"/>
          <p:nvPr/>
        </p:nvSpPr>
        <p:spPr>
          <a:xfrm>
            <a:off x="6784848" y="1871811"/>
            <a:ext cx="4846320" cy="566928"/>
          </a:xfrm>
          <a:prstGeom prst="rect">
            <a:avLst/>
          </a:prstGeom>
          <a:noFill/>
          <a:ln/>
        </p:spPr>
        <p:txBody>
          <a:bodyPr wrap="square" lIns="0" tIns="0" rIns="0" bIns="0" rtlCol="0" anchor="t"/>
          <a:lstStyle/>
          <a:p>
            <a:pPr marL="0" indent="0">
              <a:lnSpc>
                <a:spcPct val="108000"/>
              </a:lnSpc>
              <a:buNone/>
            </a:pPr>
            <a:r>
              <a:rPr lang="en-US" sz="1400" dirty="0">
                <a:solidFill>
                  <a:srgbClr val="1A1A1A"/>
                </a:solidFill>
                <a:latin typeface="Times New Roman" panose="02020603050405020304" pitchFamily="18" charset="0"/>
                <a:ea typeface="Calibri" pitchFamily="34" charset="-122"/>
                <a:cs typeface="Times New Roman" panose="02020603050405020304" pitchFamily="18" charset="0"/>
              </a:rPr>
              <a:t>Collect standardized telemetry — bandwidth, utilization, latency, packet loss, device availability</a:t>
            </a:r>
            <a:endParaRPr lang="en-US" sz="1400" dirty="0">
              <a:latin typeface="Times New Roman" panose="02020603050405020304" pitchFamily="18" charset="0"/>
              <a:cs typeface="Times New Roman" panose="02020603050405020304" pitchFamily="18" charset="0"/>
            </a:endParaRPr>
          </a:p>
        </p:txBody>
      </p:sp>
      <p:sp>
        <p:nvSpPr>
          <p:cNvPr id="11" name="Shape 9"/>
          <p:cNvSpPr/>
          <p:nvPr/>
        </p:nvSpPr>
        <p:spPr>
          <a:xfrm>
            <a:off x="6400800" y="2551176"/>
            <a:ext cx="237744" cy="237744"/>
          </a:xfrm>
          <a:prstGeom prst="ellipse">
            <a:avLst/>
          </a:prstGeom>
          <a:solidFill>
            <a:srgbClr val="0E6E8C"/>
          </a:solidFill>
          <a:ln/>
        </p:spPr>
        <p:txBody>
          <a:bodyPr/>
          <a:lstStyle/>
          <a:p>
            <a:endParaRPr lang="en-IN"/>
          </a:p>
        </p:txBody>
      </p:sp>
      <p:sp>
        <p:nvSpPr>
          <p:cNvPr id="12" name="Text 10"/>
          <p:cNvSpPr txBox="1"/>
          <p:nvPr/>
        </p:nvSpPr>
        <p:spPr>
          <a:xfrm>
            <a:off x="6400800" y="2551176"/>
            <a:ext cx="237744" cy="23774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3" name="Text 11"/>
          <p:cNvSpPr txBox="1"/>
          <p:nvPr/>
        </p:nvSpPr>
        <p:spPr>
          <a:xfrm>
            <a:off x="6784848" y="2551176"/>
            <a:ext cx="4846320" cy="566928"/>
          </a:xfrm>
          <a:prstGeom prst="rect">
            <a:avLst/>
          </a:prstGeom>
          <a:noFill/>
          <a:ln/>
        </p:spPr>
        <p:txBody>
          <a:bodyPr wrap="square" lIns="0" tIns="0" rIns="0" bIns="0" rtlCol="0" anchor="t"/>
          <a:lstStyle/>
          <a:p>
            <a:r>
              <a:rPr lang="en-IN" sz="1400" dirty="0">
                <a:latin typeface="Times New Roman" panose="02020603050405020304" pitchFamily="18" charset="0"/>
                <a:cs typeface="Times New Roman" panose="02020603050405020304" pitchFamily="18" charset="0"/>
              </a:rPr>
              <a:t>Support two telemetry sources — simulated and real SNMPv2c devices.</a:t>
            </a:r>
            <a:endParaRPr lang="en-US" sz="1300" dirty="0">
              <a:latin typeface="Times New Roman" panose="02020603050405020304" pitchFamily="18" charset="0"/>
              <a:cs typeface="Times New Roman" panose="02020603050405020304" pitchFamily="18" charset="0"/>
            </a:endParaRPr>
          </a:p>
        </p:txBody>
      </p:sp>
      <p:sp>
        <p:nvSpPr>
          <p:cNvPr id="14" name="Shape 12"/>
          <p:cNvSpPr/>
          <p:nvPr/>
        </p:nvSpPr>
        <p:spPr>
          <a:xfrm>
            <a:off x="6400800" y="3246120"/>
            <a:ext cx="237744" cy="237744"/>
          </a:xfrm>
          <a:prstGeom prst="ellipse">
            <a:avLst/>
          </a:prstGeom>
          <a:solidFill>
            <a:srgbClr val="0E6E8C"/>
          </a:solidFill>
          <a:ln/>
        </p:spPr>
        <p:txBody>
          <a:bodyPr/>
          <a:lstStyle/>
          <a:p>
            <a:endParaRPr lang="en-IN"/>
          </a:p>
        </p:txBody>
      </p:sp>
      <p:sp>
        <p:nvSpPr>
          <p:cNvPr id="15" name="Text 13"/>
          <p:cNvSpPr txBox="1"/>
          <p:nvPr/>
        </p:nvSpPr>
        <p:spPr>
          <a:xfrm>
            <a:off x="6400800" y="3246120"/>
            <a:ext cx="237744" cy="23774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6" name="Text 14"/>
          <p:cNvSpPr txBox="1"/>
          <p:nvPr/>
        </p:nvSpPr>
        <p:spPr>
          <a:xfrm>
            <a:off x="6784848" y="3329771"/>
            <a:ext cx="4846320" cy="566928"/>
          </a:xfrm>
          <a:prstGeom prst="rect">
            <a:avLst/>
          </a:prstGeom>
          <a:noFill/>
          <a:ln/>
        </p:spPr>
        <p:txBody>
          <a:bodyPr wrap="square" lIns="0" tIns="0" rIns="0" bIns="0" rtlCol="0" anchor="t"/>
          <a:lstStyle/>
          <a:p>
            <a:pPr marL="0" indent="0">
              <a:lnSpc>
                <a:spcPct val="108000"/>
              </a:lnSpc>
              <a:buNone/>
            </a:pPr>
            <a:r>
              <a:rPr lang="en-US" sz="1400" dirty="0">
                <a:solidFill>
                  <a:srgbClr val="1A1A1A"/>
                </a:solidFill>
                <a:latin typeface="Times New Roman" panose="02020603050405020304" pitchFamily="18" charset="0"/>
                <a:ea typeface="Calibri" pitchFamily="34" charset="-122"/>
                <a:cs typeface="Times New Roman" panose="02020603050405020304" pitchFamily="18" charset="0"/>
              </a:rPr>
              <a:t>Transport telemetry efficiently using gRPC and Protocol Buffers</a:t>
            </a:r>
            <a:endParaRPr lang="en-US" sz="1400" dirty="0">
              <a:latin typeface="Times New Roman" panose="02020603050405020304" pitchFamily="18" charset="0"/>
              <a:cs typeface="Times New Roman" panose="02020603050405020304" pitchFamily="18" charset="0"/>
            </a:endParaRPr>
          </a:p>
        </p:txBody>
      </p:sp>
      <p:sp>
        <p:nvSpPr>
          <p:cNvPr id="17" name="Shape 15"/>
          <p:cNvSpPr/>
          <p:nvPr/>
        </p:nvSpPr>
        <p:spPr>
          <a:xfrm>
            <a:off x="6400800" y="3941064"/>
            <a:ext cx="237744" cy="237744"/>
          </a:xfrm>
          <a:prstGeom prst="ellipse">
            <a:avLst/>
          </a:prstGeom>
          <a:solidFill>
            <a:srgbClr val="0E6E8C"/>
          </a:solidFill>
          <a:ln/>
        </p:spPr>
        <p:txBody>
          <a:bodyPr/>
          <a:lstStyle/>
          <a:p>
            <a:endParaRPr lang="en-IN"/>
          </a:p>
        </p:txBody>
      </p:sp>
      <p:sp>
        <p:nvSpPr>
          <p:cNvPr id="18" name="Text 16"/>
          <p:cNvSpPr txBox="1"/>
          <p:nvPr/>
        </p:nvSpPr>
        <p:spPr>
          <a:xfrm>
            <a:off x="6400800" y="3941064"/>
            <a:ext cx="237744" cy="23774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19" name="Text 17"/>
          <p:cNvSpPr txBox="1"/>
          <p:nvPr/>
        </p:nvSpPr>
        <p:spPr>
          <a:xfrm>
            <a:off x="6784848" y="3875701"/>
            <a:ext cx="4846320" cy="566928"/>
          </a:xfrm>
          <a:prstGeom prst="rect">
            <a:avLst/>
          </a:prstGeom>
          <a:noFill/>
          <a:ln/>
        </p:spPr>
        <p:txBody>
          <a:bodyPr wrap="square" lIns="0" tIns="0" rIns="0" bIns="0" rtlCol="0" anchor="t"/>
          <a:lstStyle/>
          <a:p>
            <a:pPr marL="0" indent="0">
              <a:lnSpc>
                <a:spcPct val="108000"/>
              </a:lnSpc>
              <a:buNone/>
            </a:pPr>
            <a:r>
              <a:rPr lang="en-US" sz="1400" dirty="0">
                <a:solidFill>
                  <a:srgbClr val="1A1A1A"/>
                </a:solidFill>
                <a:latin typeface="Times New Roman" panose="02020603050405020304" pitchFamily="18" charset="0"/>
                <a:ea typeface="Calibri" pitchFamily="34" charset="-122"/>
                <a:cs typeface="Times New Roman" panose="02020603050405020304" pitchFamily="18" charset="0"/>
              </a:rPr>
              <a:t>Persist historical data in PostgreSQL with an indexed, query-efficient schema</a:t>
            </a:r>
            <a:endParaRPr lang="en-US" sz="1400" dirty="0">
              <a:latin typeface="Times New Roman" panose="02020603050405020304" pitchFamily="18" charset="0"/>
              <a:cs typeface="Times New Roman" panose="02020603050405020304" pitchFamily="18" charset="0"/>
            </a:endParaRPr>
          </a:p>
        </p:txBody>
      </p:sp>
      <p:sp>
        <p:nvSpPr>
          <p:cNvPr id="20" name="Shape 18"/>
          <p:cNvSpPr/>
          <p:nvPr/>
        </p:nvSpPr>
        <p:spPr>
          <a:xfrm>
            <a:off x="6400800" y="4636008"/>
            <a:ext cx="237744" cy="237744"/>
          </a:xfrm>
          <a:prstGeom prst="ellipse">
            <a:avLst/>
          </a:prstGeom>
          <a:solidFill>
            <a:srgbClr val="0E6E8C"/>
          </a:solidFill>
          <a:ln/>
        </p:spPr>
        <p:txBody>
          <a:bodyPr/>
          <a:lstStyle/>
          <a:p>
            <a:endParaRPr lang="en-IN"/>
          </a:p>
        </p:txBody>
      </p:sp>
      <p:sp>
        <p:nvSpPr>
          <p:cNvPr id="21" name="Text 19"/>
          <p:cNvSpPr txBox="1"/>
          <p:nvPr/>
        </p:nvSpPr>
        <p:spPr>
          <a:xfrm>
            <a:off x="6400800" y="4636008"/>
            <a:ext cx="237744" cy="23774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2" name="Text 20"/>
          <p:cNvSpPr txBox="1"/>
          <p:nvPr/>
        </p:nvSpPr>
        <p:spPr>
          <a:xfrm>
            <a:off x="6784848" y="4562856"/>
            <a:ext cx="4846320" cy="566928"/>
          </a:xfrm>
          <a:prstGeom prst="rect">
            <a:avLst/>
          </a:prstGeom>
          <a:noFill/>
          <a:ln/>
        </p:spPr>
        <p:txBody>
          <a:bodyPr wrap="square" lIns="0" tIns="0" rIns="0" bIns="0" rtlCol="0" anchor="t"/>
          <a:lstStyle/>
          <a:p>
            <a:pPr marL="0" indent="0">
              <a:lnSpc>
                <a:spcPct val="108000"/>
              </a:lnSpc>
              <a:buNone/>
            </a:pPr>
            <a:r>
              <a:rPr lang="en-US" sz="1400" dirty="0">
                <a:solidFill>
                  <a:srgbClr val="1A1A1A"/>
                </a:solidFill>
                <a:latin typeface="Times New Roman" panose="02020603050405020304" pitchFamily="18" charset="0"/>
                <a:ea typeface="Calibri" pitchFamily="34" charset="-122"/>
                <a:cs typeface="Times New Roman" panose="02020603050405020304" pitchFamily="18" charset="0"/>
              </a:rPr>
              <a:t>Visualize live and historical metrics in Grafana with threshold-based alerting (deduplication + auto-recovery)</a:t>
            </a:r>
            <a:endParaRPr lang="en-US" sz="1400" dirty="0">
              <a:latin typeface="Times New Roman" panose="02020603050405020304" pitchFamily="18" charset="0"/>
              <a:cs typeface="Times New Roman" panose="02020603050405020304" pitchFamily="18" charset="0"/>
            </a:endParaRPr>
          </a:p>
        </p:txBody>
      </p:sp>
      <p:sp>
        <p:nvSpPr>
          <p:cNvPr id="23" name="Shape 21"/>
          <p:cNvSpPr/>
          <p:nvPr/>
        </p:nvSpPr>
        <p:spPr>
          <a:xfrm>
            <a:off x="6400800" y="5330952"/>
            <a:ext cx="237744" cy="237744"/>
          </a:xfrm>
          <a:prstGeom prst="ellipse">
            <a:avLst/>
          </a:prstGeom>
          <a:solidFill>
            <a:srgbClr val="0E6E8C"/>
          </a:solidFill>
          <a:ln/>
        </p:spPr>
        <p:txBody>
          <a:bodyPr/>
          <a:lstStyle/>
          <a:p>
            <a:endParaRPr lang="en-IN"/>
          </a:p>
        </p:txBody>
      </p:sp>
      <p:sp>
        <p:nvSpPr>
          <p:cNvPr id="24" name="Text 22"/>
          <p:cNvSpPr txBox="1"/>
          <p:nvPr/>
        </p:nvSpPr>
        <p:spPr>
          <a:xfrm>
            <a:off x="6400800" y="5330952"/>
            <a:ext cx="237744" cy="23774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25" name="Text 23"/>
          <p:cNvSpPr txBox="1"/>
          <p:nvPr/>
        </p:nvSpPr>
        <p:spPr>
          <a:xfrm>
            <a:off x="6784848" y="5257800"/>
            <a:ext cx="4846320" cy="566928"/>
          </a:xfrm>
          <a:prstGeom prst="rect">
            <a:avLst/>
          </a:prstGeom>
          <a:noFill/>
          <a:ln/>
        </p:spPr>
        <p:txBody>
          <a:bodyPr wrap="square" lIns="0" tIns="0" rIns="0" bIns="0" rtlCol="0" anchor="t"/>
          <a:lstStyle/>
          <a:p>
            <a:pPr marL="0" indent="0">
              <a:lnSpc>
                <a:spcPct val="108000"/>
              </a:lnSpc>
              <a:buNone/>
            </a:pPr>
            <a:r>
              <a:rPr lang="en-US" sz="1400" dirty="0">
                <a:solidFill>
                  <a:srgbClr val="1A1A1A"/>
                </a:solidFill>
                <a:latin typeface="Times New Roman" panose="02020603050405020304" pitchFamily="18" charset="0"/>
                <a:ea typeface="Calibri" pitchFamily="34" charset="-122"/>
                <a:cs typeface="Times New Roman" panose="02020603050405020304" pitchFamily="18" charset="0"/>
              </a:rPr>
              <a:t>Validate the SNMP collector against a real, non-simulated device using GNS3/VyOS</a:t>
            </a:r>
            <a:endParaRPr lang="en-US" sz="1400" dirty="0">
              <a:latin typeface="Times New Roman" panose="02020603050405020304" pitchFamily="18" charset="0"/>
              <a:cs typeface="Times New Roman" panose="02020603050405020304" pitchFamily="18" charset="0"/>
            </a:endParaRPr>
          </a:p>
        </p:txBody>
      </p:sp>
      <p:sp>
        <p:nvSpPr>
          <p:cNvPr id="26" name="Text 24"/>
          <p:cNvSpPr txBox="1"/>
          <p:nvPr/>
        </p:nvSpPr>
        <p:spPr>
          <a:xfrm>
            <a:off x="548640" y="6446520"/>
            <a:ext cx="7315200" cy="320040"/>
          </a:xfrm>
          <a:prstGeom prst="rect">
            <a:avLst/>
          </a:prstGeom>
          <a:noFill/>
          <a:ln/>
        </p:spPr>
        <p:txBody>
          <a:bodyPr wrap="square" lIns="0" tIns="0" rIns="0" bIns="0" rtlCol="0" anchor="ctr"/>
          <a:lstStyle/>
          <a:p>
            <a:pPr marL="0" indent="0">
              <a:buNone/>
            </a:pPr>
            <a:r>
              <a:rPr lang="en-US" sz="1000" dirty="0">
                <a:solidFill>
                  <a:srgbClr val="5A6169"/>
                </a:solidFill>
                <a:latin typeface="Calibri" pitchFamily="34" charset="0"/>
                <a:ea typeface="Calibri" pitchFamily="34" charset="-122"/>
                <a:cs typeface="Calibri" pitchFamily="34" charset="-120"/>
              </a:rPr>
              <a:t>Network Telemetry &amp; Real-Time Network Performance Monitoring System</a:t>
            </a:r>
            <a:endParaRPr lang="en-US" sz="1000" dirty="0"/>
          </a:p>
        </p:txBody>
      </p:sp>
      <p:sp>
        <p:nvSpPr>
          <p:cNvPr id="27" name="Text 25"/>
          <p:cNvSpPr txBox="1"/>
          <p:nvPr/>
        </p:nvSpPr>
        <p:spPr>
          <a:xfrm>
            <a:off x="11475720" y="6446520"/>
            <a:ext cx="640080" cy="320040"/>
          </a:xfrm>
          <a:prstGeom prst="rect">
            <a:avLst/>
          </a:prstGeom>
          <a:noFill/>
          <a:ln/>
        </p:spPr>
        <p:txBody>
          <a:bodyPr wrap="square" lIns="0" tIns="0" rIns="0" bIns="0" rtlCol="0" anchor="ctr"/>
          <a:lstStyle/>
          <a:p>
            <a:pPr marL="0" indent="0" algn="r">
              <a:buNone/>
            </a:pPr>
            <a:r>
              <a:rPr lang="en-US" sz="1100" dirty="0">
                <a:solidFill>
                  <a:srgbClr val="5A6169"/>
                </a:solidFill>
                <a:latin typeface="Calibri" pitchFamily="34" charset="0"/>
                <a:ea typeface="Calibri" pitchFamily="34" charset="-122"/>
                <a:cs typeface="Calibri" pitchFamily="34" charset="-120"/>
              </a:rPr>
              <a:t>01</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92608"/>
            <a:ext cx="7315200" cy="274320"/>
          </a:xfrm>
          <a:prstGeom prst="rect">
            <a:avLst/>
          </a:prstGeom>
          <a:noFill/>
          <a:ln/>
        </p:spPr>
        <p:txBody>
          <a:bodyPr wrap="square" lIns="0" tIns="0" rIns="0" bIns="0" rtlCol="0" anchor="ctr"/>
          <a:lstStyle/>
          <a:p>
            <a:pPr marL="0" indent="0">
              <a:buNone/>
            </a:pPr>
            <a:r>
              <a:rPr lang="en-US" sz="1200" b="1" kern="0" spc="200" dirty="0">
                <a:solidFill>
                  <a:srgbClr val="0E6E8C"/>
                </a:solidFill>
                <a:latin typeface="Calibri" pitchFamily="34" charset="0"/>
                <a:ea typeface="Calibri" pitchFamily="34" charset="-122"/>
                <a:cs typeface="Calibri" pitchFamily="34" charset="-120"/>
              </a:rPr>
              <a:t>02 — ARCHITECTURE &amp; MECHANISM</a:t>
            </a:r>
            <a:endParaRPr lang="en-US" sz="1200" dirty="0"/>
          </a:p>
        </p:txBody>
      </p:sp>
      <p:sp>
        <p:nvSpPr>
          <p:cNvPr id="3" name="Text 1"/>
          <p:cNvSpPr txBox="1"/>
          <p:nvPr/>
        </p:nvSpPr>
        <p:spPr>
          <a:xfrm>
            <a:off x="548640" y="566928"/>
            <a:ext cx="8229600" cy="640080"/>
          </a:xfrm>
          <a:prstGeom prst="rect">
            <a:avLst/>
          </a:prstGeom>
          <a:noFill/>
          <a:ln/>
        </p:spPr>
        <p:txBody>
          <a:bodyPr wrap="square" lIns="0" tIns="0" rIns="0" bIns="0" rtlCol="0" anchor="ctr"/>
          <a:lstStyle/>
          <a:p>
            <a:pPr marL="0" indent="0">
              <a:buNone/>
            </a:pPr>
            <a:r>
              <a:rPr lang="en-US" sz="3000" b="1" dirty="0">
                <a:solidFill>
                  <a:srgbClr val="1A1A1A"/>
                </a:solidFill>
                <a:latin typeface="Cambria" pitchFamily="34" charset="0"/>
                <a:ea typeface="Cambria" pitchFamily="34" charset="-122"/>
                <a:cs typeface="Cambria" pitchFamily="34" charset="-120"/>
              </a:rPr>
              <a:t>System Architecture &amp; Data Flow</a:t>
            </a:r>
            <a:endParaRPr lang="en-US" sz="3000" dirty="0"/>
          </a:p>
        </p:txBody>
      </p:sp>
      <p:sp>
        <p:nvSpPr>
          <p:cNvPr id="4" name="Shape 2"/>
          <p:cNvSpPr/>
          <p:nvPr/>
        </p:nvSpPr>
        <p:spPr>
          <a:xfrm>
            <a:off x="548640" y="1417320"/>
            <a:ext cx="2331720" cy="868680"/>
          </a:xfrm>
          <a:prstGeom prst="rect">
            <a:avLst/>
          </a:prstGeom>
          <a:solidFill>
            <a:srgbClr val="F4F6F7"/>
          </a:solidFill>
          <a:ln w="12700">
            <a:solidFill>
              <a:srgbClr val="E1E4E6"/>
            </a:solidFill>
            <a:prstDash val="solid"/>
          </a:ln>
        </p:spPr>
        <p:txBody>
          <a:bodyPr/>
          <a:lstStyle/>
          <a:p>
            <a:endParaRPr lang="en-IN"/>
          </a:p>
        </p:txBody>
      </p:sp>
      <p:sp>
        <p:nvSpPr>
          <p:cNvPr id="5" name="Text 3"/>
          <p:cNvSpPr txBox="1"/>
          <p:nvPr/>
        </p:nvSpPr>
        <p:spPr>
          <a:xfrm>
            <a:off x="548640" y="1508760"/>
            <a:ext cx="2331720" cy="310896"/>
          </a:xfrm>
          <a:prstGeom prst="rect">
            <a:avLst/>
          </a:prstGeom>
          <a:noFill/>
          <a:ln/>
        </p:spPr>
        <p:txBody>
          <a:bodyPr wrap="square" lIns="0" tIns="0" rIns="0" bIns="0" rtlCol="0" anchor="t"/>
          <a:lstStyle/>
          <a:p>
            <a:pPr marL="0" indent="0" algn="ctr">
              <a:buNone/>
            </a:pPr>
            <a:r>
              <a:rPr lang="en-US" sz="1300" b="1" dirty="0">
                <a:solidFill>
                  <a:srgbClr val="1A1A1A"/>
                </a:solidFill>
                <a:latin typeface="Calibri" pitchFamily="34" charset="0"/>
                <a:ea typeface="Calibri" pitchFamily="34" charset="-122"/>
                <a:cs typeface="Calibri" pitchFamily="34" charset="-120"/>
              </a:rPr>
              <a:t>Custom Simulator</a:t>
            </a:r>
            <a:endParaRPr lang="en-US" sz="1300" dirty="0"/>
          </a:p>
        </p:txBody>
      </p:sp>
      <p:sp>
        <p:nvSpPr>
          <p:cNvPr id="6" name="Text 4"/>
          <p:cNvSpPr txBox="1"/>
          <p:nvPr/>
        </p:nvSpPr>
        <p:spPr>
          <a:xfrm>
            <a:off x="548640" y="1847088"/>
            <a:ext cx="2331720" cy="292608"/>
          </a:xfrm>
          <a:prstGeom prst="rect">
            <a:avLst/>
          </a:prstGeom>
          <a:noFill/>
          <a:ln/>
        </p:spPr>
        <p:txBody>
          <a:bodyPr wrap="square" lIns="0" tIns="0" rIns="0" bIns="0" rtlCol="0" anchor="t"/>
          <a:lstStyle/>
          <a:p>
            <a:pPr marL="0" indent="0" algn="ctr">
              <a:buNone/>
            </a:pPr>
            <a:r>
              <a:rPr lang="en-US" sz="950" dirty="0">
                <a:solidFill>
                  <a:srgbClr val="1A1A1A"/>
                </a:solidFill>
                <a:latin typeface="Calibri" pitchFamily="34" charset="0"/>
                <a:ea typeface="Calibri" pitchFamily="34" charset="-122"/>
                <a:cs typeface="Calibri" pitchFamily="34" charset="-120"/>
              </a:rPr>
              <a:t>router-01/02, switch-01/02</a:t>
            </a:r>
            <a:endParaRPr lang="en-US" sz="950" dirty="0"/>
          </a:p>
        </p:txBody>
      </p:sp>
      <p:sp>
        <p:nvSpPr>
          <p:cNvPr id="7" name="Shape 5"/>
          <p:cNvSpPr/>
          <p:nvPr/>
        </p:nvSpPr>
        <p:spPr>
          <a:xfrm>
            <a:off x="3200400" y="1417320"/>
            <a:ext cx="2331720" cy="868680"/>
          </a:xfrm>
          <a:prstGeom prst="rect">
            <a:avLst/>
          </a:prstGeom>
          <a:solidFill>
            <a:srgbClr val="F4F6F7"/>
          </a:solidFill>
          <a:ln w="12700">
            <a:solidFill>
              <a:srgbClr val="E1E4E6"/>
            </a:solidFill>
            <a:prstDash val="solid"/>
          </a:ln>
        </p:spPr>
        <p:txBody>
          <a:bodyPr/>
          <a:lstStyle/>
          <a:p>
            <a:endParaRPr lang="en-IN"/>
          </a:p>
        </p:txBody>
      </p:sp>
      <p:sp>
        <p:nvSpPr>
          <p:cNvPr id="8" name="Text 6"/>
          <p:cNvSpPr txBox="1"/>
          <p:nvPr/>
        </p:nvSpPr>
        <p:spPr>
          <a:xfrm>
            <a:off x="3200400" y="1508760"/>
            <a:ext cx="2331720" cy="310896"/>
          </a:xfrm>
          <a:prstGeom prst="rect">
            <a:avLst/>
          </a:prstGeom>
          <a:noFill/>
          <a:ln/>
        </p:spPr>
        <p:txBody>
          <a:bodyPr wrap="square" lIns="0" tIns="0" rIns="0" bIns="0" rtlCol="0" anchor="t"/>
          <a:lstStyle/>
          <a:p>
            <a:pPr marL="0" indent="0" algn="ctr">
              <a:buNone/>
            </a:pPr>
            <a:r>
              <a:rPr lang="en-US" sz="1300" b="1" dirty="0">
                <a:solidFill>
                  <a:srgbClr val="1A1A1A"/>
                </a:solidFill>
                <a:latin typeface="Calibri" pitchFamily="34" charset="0"/>
                <a:ea typeface="Calibri" pitchFamily="34" charset="-122"/>
                <a:cs typeface="Calibri" pitchFamily="34" charset="-120"/>
              </a:rPr>
              <a:t>GNS3 / VyOS Router</a:t>
            </a:r>
            <a:endParaRPr lang="en-US" sz="1300" dirty="0"/>
          </a:p>
        </p:txBody>
      </p:sp>
      <p:sp>
        <p:nvSpPr>
          <p:cNvPr id="9" name="Text 7"/>
          <p:cNvSpPr txBox="1"/>
          <p:nvPr/>
        </p:nvSpPr>
        <p:spPr>
          <a:xfrm>
            <a:off x="3200400" y="1847088"/>
            <a:ext cx="2331720" cy="292608"/>
          </a:xfrm>
          <a:prstGeom prst="rect">
            <a:avLst/>
          </a:prstGeom>
          <a:noFill/>
          <a:ln/>
        </p:spPr>
        <p:txBody>
          <a:bodyPr wrap="square" lIns="0" tIns="0" rIns="0" bIns="0" rtlCol="0" anchor="t"/>
          <a:lstStyle/>
          <a:p>
            <a:pPr marL="0" indent="0" algn="ctr">
              <a:buNone/>
            </a:pPr>
            <a:r>
              <a:rPr lang="en-US" sz="950" dirty="0">
                <a:solidFill>
                  <a:srgbClr val="1A1A1A"/>
                </a:solidFill>
                <a:latin typeface="Calibri" pitchFamily="34" charset="0"/>
                <a:ea typeface="Calibri" pitchFamily="34" charset="-122"/>
                <a:cs typeface="Calibri" pitchFamily="34" charset="-120"/>
              </a:rPr>
              <a:t>Real SNMP virtual device</a:t>
            </a:r>
            <a:endParaRPr lang="en-US" sz="950" dirty="0"/>
          </a:p>
        </p:txBody>
      </p:sp>
      <p:sp>
        <p:nvSpPr>
          <p:cNvPr id="10" name="Shape 8"/>
          <p:cNvSpPr/>
          <p:nvPr/>
        </p:nvSpPr>
        <p:spPr>
          <a:xfrm>
            <a:off x="1714500" y="2286000"/>
            <a:ext cx="0" cy="502920"/>
          </a:xfrm>
          <a:prstGeom prst="line">
            <a:avLst/>
          </a:prstGeom>
          <a:noFill/>
          <a:ln w="19050">
            <a:solidFill>
              <a:srgbClr val="5A6169"/>
            </a:solidFill>
            <a:prstDash val="solid"/>
            <a:tailEnd type="triangle"/>
          </a:ln>
        </p:spPr>
        <p:txBody>
          <a:bodyPr/>
          <a:lstStyle/>
          <a:p>
            <a:endParaRPr lang="en-IN"/>
          </a:p>
        </p:txBody>
      </p:sp>
      <p:sp>
        <p:nvSpPr>
          <p:cNvPr id="11" name="Shape 9"/>
          <p:cNvSpPr/>
          <p:nvPr/>
        </p:nvSpPr>
        <p:spPr>
          <a:xfrm>
            <a:off x="4366260" y="2286000"/>
            <a:ext cx="0" cy="502920"/>
          </a:xfrm>
          <a:prstGeom prst="line">
            <a:avLst/>
          </a:prstGeom>
          <a:noFill/>
          <a:ln w="19050">
            <a:solidFill>
              <a:srgbClr val="5A6169"/>
            </a:solidFill>
            <a:prstDash val="solid"/>
            <a:tailEnd type="triangle"/>
          </a:ln>
        </p:spPr>
        <p:txBody>
          <a:bodyPr/>
          <a:lstStyle/>
          <a:p>
            <a:endParaRPr lang="en-IN"/>
          </a:p>
        </p:txBody>
      </p:sp>
      <p:sp>
        <p:nvSpPr>
          <p:cNvPr id="12" name="Text 10"/>
          <p:cNvSpPr txBox="1"/>
          <p:nvPr/>
        </p:nvSpPr>
        <p:spPr>
          <a:xfrm>
            <a:off x="548640" y="2359152"/>
            <a:ext cx="4983480" cy="274320"/>
          </a:xfrm>
          <a:prstGeom prst="rect">
            <a:avLst/>
          </a:prstGeom>
          <a:noFill/>
          <a:ln/>
        </p:spPr>
        <p:txBody>
          <a:bodyPr wrap="square" lIns="0" tIns="0" rIns="0" bIns="0" rtlCol="0" anchor="ctr"/>
          <a:lstStyle/>
          <a:p>
            <a:pPr marL="0" indent="0" algn="ctr">
              <a:buNone/>
            </a:pPr>
            <a:r>
              <a:rPr lang="en-US" sz="950" i="1" dirty="0">
                <a:solidFill>
                  <a:srgbClr val="5A6169"/>
                </a:solidFill>
                <a:latin typeface="Calibri" pitchFamily="34" charset="0"/>
                <a:ea typeface="Calibri" pitchFamily="34" charset="-122"/>
                <a:cs typeface="Calibri" pitchFamily="34" charset="-120"/>
              </a:rPr>
              <a:t>SNMPv2c / ICMP  —  poll-based, not streaming</a:t>
            </a:r>
            <a:endParaRPr lang="en-US" sz="950" dirty="0"/>
          </a:p>
        </p:txBody>
      </p:sp>
      <p:sp>
        <p:nvSpPr>
          <p:cNvPr id="13" name="Shape 11"/>
          <p:cNvSpPr/>
          <p:nvPr/>
        </p:nvSpPr>
        <p:spPr>
          <a:xfrm>
            <a:off x="548640" y="2880360"/>
            <a:ext cx="4983480" cy="868680"/>
          </a:xfrm>
          <a:prstGeom prst="rect">
            <a:avLst/>
          </a:prstGeom>
          <a:solidFill>
            <a:srgbClr val="0E6E8C"/>
          </a:solidFill>
          <a:ln w="12700">
            <a:solidFill>
              <a:srgbClr val="E1E4E6"/>
            </a:solidFill>
            <a:prstDash val="solid"/>
          </a:ln>
        </p:spPr>
        <p:txBody>
          <a:bodyPr/>
          <a:lstStyle/>
          <a:p>
            <a:endParaRPr lang="en-IN"/>
          </a:p>
        </p:txBody>
      </p:sp>
      <p:sp>
        <p:nvSpPr>
          <p:cNvPr id="14" name="Text 12"/>
          <p:cNvSpPr txBox="1"/>
          <p:nvPr/>
        </p:nvSpPr>
        <p:spPr>
          <a:xfrm>
            <a:off x="548640" y="2971800"/>
            <a:ext cx="4983480" cy="310896"/>
          </a:xfrm>
          <a:prstGeom prst="rect">
            <a:avLst/>
          </a:prstGeom>
          <a:noFill/>
          <a:ln/>
        </p:spPr>
        <p:txBody>
          <a:bodyPr wrap="square" lIns="0" tIns="0" rIns="0" bIns="0" rtlCol="0" anchor="t"/>
          <a:lstStyle/>
          <a:p>
            <a:pPr marL="0" indent="0" algn="ctr">
              <a:buNone/>
            </a:pPr>
            <a:r>
              <a:rPr lang="en-US" sz="1300" b="1" dirty="0">
                <a:solidFill>
                  <a:srgbClr val="FFFFFF"/>
                </a:solidFill>
                <a:latin typeface="Calibri" pitchFamily="34" charset="0"/>
                <a:ea typeface="Calibri" pitchFamily="34" charset="-122"/>
                <a:cs typeface="Calibri" pitchFamily="34" charset="-120"/>
              </a:rPr>
              <a:t>Python Telemetry Collector</a:t>
            </a:r>
            <a:endParaRPr lang="en-US" sz="1300" dirty="0"/>
          </a:p>
        </p:txBody>
      </p:sp>
      <p:sp>
        <p:nvSpPr>
          <p:cNvPr id="15" name="Text 13"/>
          <p:cNvSpPr txBox="1"/>
          <p:nvPr/>
        </p:nvSpPr>
        <p:spPr>
          <a:xfrm>
            <a:off x="548640" y="3310128"/>
            <a:ext cx="4983480" cy="292608"/>
          </a:xfrm>
          <a:prstGeom prst="rect">
            <a:avLst/>
          </a:prstGeom>
          <a:noFill/>
          <a:ln/>
        </p:spPr>
        <p:txBody>
          <a:bodyPr wrap="square" lIns="0" tIns="0" rIns="0" bIns="0" rtlCol="0" anchor="t"/>
          <a:lstStyle/>
          <a:p>
            <a:pPr marL="0" indent="0" algn="ctr">
              <a:buNone/>
            </a:pPr>
            <a:r>
              <a:rPr lang="en-US" sz="950" dirty="0">
                <a:solidFill>
                  <a:srgbClr val="FFFFFF"/>
                </a:solidFill>
                <a:latin typeface="Calibri" pitchFamily="34" charset="0"/>
                <a:ea typeface="Calibri" pitchFamily="34" charset="-122"/>
                <a:cs typeface="Calibri" pitchFamily="34" charset="-120"/>
              </a:rPr>
              <a:t>One common MetricSource interface — same pipeline for both sources</a:t>
            </a:r>
            <a:endParaRPr lang="en-US" sz="950" dirty="0"/>
          </a:p>
        </p:txBody>
      </p:sp>
      <p:sp>
        <p:nvSpPr>
          <p:cNvPr id="16" name="Shape 14"/>
          <p:cNvSpPr/>
          <p:nvPr/>
        </p:nvSpPr>
        <p:spPr>
          <a:xfrm>
            <a:off x="5715000" y="3310128"/>
            <a:ext cx="502920" cy="0"/>
          </a:xfrm>
          <a:prstGeom prst="line">
            <a:avLst/>
          </a:prstGeom>
          <a:noFill/>
          <a:ln w="19050">
            <a:solidFill>
              <a:srgbClr val="5A6169"/>
            </a:solidFill>
            <a:prstDash val="solid"/>
            <a:tailEnd type="triangle"/>
          </a:ln>
        </p:spPr>
        <p:txBody>
          <a:bodyPr/>
          <a:lstStyle/>
          <a:p>
            <a:endParaRPr lang="en-IN"/>
          </a:p>
        </p:txBody>
      </p:sp>
      <p:sp>
        <p:nvSpPr>
          <p:cNvPr id="17" name="Text 15"/>
          <p:cNvSpPr txBox="1"/>
          <p:nvPr/>
        </p:nvSpPr>
        <p:spPr>
          <a:xfrm>
            <a:off x="5623560" y="2999232"/>
            <a:ext cx="685800" cy="274320"/>
          </a:xfrm>
          <a:prstGeom prst="rect">
            <a:avLst/>
          </a:prstGeom>
          <a:noFill/>
          <a:ln/>
        </p:spPr>
        <p:txBody>
          <a:bodyPr wrap="square" lIns="0" tIns="0" rIns="0" bIns="0" rtlCol="0" anchor="ctr"/>
          <a:lstStyle/>
          <a:p>
            <a:pPr marL="0" indent="0" algn="ctr">
              <a:buNone/>
            </a:pPr>
            <a:r>
              <a:rPr lang="en-US" sz="900" b="1" dirty="0">
                <a:solidFill>
                  <a:srgbClr val="0A4F63"/>
                </a:solidFill>
                <a:latin typeface="Calibri" pitchFamily="34" charset="0"/>
                <a:ea typeface="Calibri" pitchFamily="34" charset="-122"/>
                <a:cs typeface="Calibri" pitchFamily="34" charset="-120"/>
              </a:rPr>
              <a:t>gRPC +</a:t>
            </a:r>
            <a:endParaRPr lang="en-US" sz="900" dirty="0"/>
          </a:p>
          <a:p>
            <a:pPr marL="0" indent="0" algn="ctr">
              <a:buNone/>
            </a:pPr>
            <a:r>
              <a:rPr lang="en-US" sz="900" b="1" dirty="0">
                <a:solidFill>
                  <a:srgbClr val="0A4F63"/>
                </a:solidFill>
                <a:latin typeface="Calibri" pitchFamily="34" charset="0"/>
                <a:ea typeface="Calibri" pitchFamily="34" charset="-122"/>
                <a:cs typeface="Calibri" pitchFamily="34" charset="-120"/>
              </a:rPr>
              <a:t>Protobuf</a:t>
            </a:r>
            <a:endParaRPr lang="en-US" sz="900" dirty="0"/>
          </a:p>
        </p:txBody>
      </p:sp>
      <p:sp>
        <p:nvSpPr>
          <p:cNvPr id="18" name="Shape 16"/>
          <p:cNvSpPr/>
          <p:nvPr/>
        </p:nvSpPr>
        <p:spPr>
          <a:xfrm>
            <a:off x="6400800" y="2880360"/>
            <a:ext cx="2148840" cy="868680"/>
          </a:xfrm>
          <a:prstGeom prst="rect">
            <a:avLst/>
          </a:prstGeom>
          <a:solidFill>
            <a:srgbClr val="F4F6F7"/>
          </a:solidFill>
          <a:ln w="12700">
            <a:solidFill>
              <a:srgbClr val="E1E4E6"/>
            </a:solidFill>
            <a:prstDash val="solid"/>
          </a:ln>
        </p:spPr>
        <p:txBody>
          <a:bodyPr/>
          <a:lstStyle/>
          <a:p>
            <a:endParaRPr lang="en-IN"/>
          </a:p>
        </p:txBody>
      </p:sp>
      <p:sp>
        <p:nvSpPr>
          <p:cNvPr id="19" name="Text 17"/>
          <p:cNvSpPr txBox="1"/>
          <p:nvPr/>
        </p:nvSpPr>
        <p:spPr>
          <a:xfrm>
            <a:off x="6400800" y="2971800"/>
            <a:ext cx="2148840" cy="310896"/>
          </a:xfrm>
          <a:prstGeom prst="rect">
            <a:avLst/>
          </a:prstGeom>
          <a:noFill/>
          <a:ln/>
        </p:spPr>
        <p:txBody>
          <a:bodyPr wrap="square" lIns="0" tIns="0" rIns="0" bIns="0" rtlCol="0" anchor="t"/>
          <a:lstStyle/>
          <a:p>
            <a:pPr marL="0" indent="0" algn="ctr">
              <a:buNone/>
            </a:pPr>
            <a:r>
              <a:rPr lang="en-US" sz="1300" b="1" dirty="0">
                <a:solidFill>
                  <a:srgbClr val="1A1A1A"/>
                </a:solidFill>
                <a:latin typeface="Calibri" pitchFamily="34" charset="0"/>
                <a:ea typeface="Calibri" pitchFamily="34" charset="-122"/>
                <a:cs typeface="Calibri" pitchFamily="34" charset="-120"/>
              </a:rPr>
              <a:t>FastAPI Backend</a:t>
            </a:r>
            <a:endParaRPr lang="en-US" sz="1300" dirty="0"/>
          </a:p>
        </p:txBody>
      </p:sp>
      <p:sp>
        <p:nvSpPr>
          <p:cNvPr id="20" name="Text 18"/>
          <p:cNvSpPr txBox="1"/>
          <p:nvPr/>
        </p:nvSpPr>
        <p:spPr>
          <a:xfrm>
            <a:off x="6400800" y="3310128"/>
            <a:ext cx="2148840" cy="292608"/>
          </a:xfrm>
          <a:prstGeom prst="rect">
            <a:avLst/>
          </a:prstGeom>
          <a:noFill/>
          <a:ln/>
        </p:spPr>
        <p:txBody>
          <a:bodyPr wrap="square" lIns="0" tIns="0" rIns="0" bIns="0" rtlCol="0" anchor="t"/>
          <a:lstStyle/>
          <a:p>
            <a:pPr marL="0" indent="0" algn="ctr">
              <a:buNone/>
            </a:pPr>
            <a:r>
              <a:rPr lang="en-US" sz="950" dirty="0">
                <a:solidFill>
                  <a:srgbClr val="1A1A1A"/>
                </a:solidFill>
                <a:latin typeface="Calibri" pitchFamily="34" charset="0"/>
                <a:ea typeface="Calibri" pitchFamily="34" charset="-122"/>
                <a:cs typeface="Calibri" pitchFamily="34" charset="-120"/>
              </a:rPr>
              <a:t>Router → Service → Repository</a:t>
            </a:r>
            <a:endParaRPr lang="en-US" sz="950" dirty="0"/>
          </a:p>
        </p:txBody>
      </p:sp>
      <p:sp>
        <p:nvSpPr>
          <p:cNvPr id="21" name="Shape 19"/>
          <p:cNvSpPr/>
          <p:nvPr/>
        </p:nvSpPr>
        <p:spPr>
          <a:xfrm>
            <a:off x="8732520" y="3310128"/>
            <a:ext cx="502920" cy="0"/>
          </a:xfrm>
          <a:prstGeom prst="line">
            <a:avLst/>
          </a:prstGeom>
          <a:noFill/>
          <a:ln w="19050">
            <a:solidFill>
              <a:srgbClr val="5A6169"/>
            </a:solidFill>
            <a:prstDash val="solid"/>
            <a:tailEnd type="triangle"/>
          </a:ln>
        </p:spPr>
        <p:txBody>
          <a:bodyPr/>
          <a:lstStyle/>
          <a:p>
            <a:endParaRPr lang="en-IN"/>
          </a:p>
        </p:txBody>
      </p:sp>
      <p:sp>
        <p:nvSpPr>
          <p:cNvPr id="22" name="Text 20"/>
          <p:cNvSpPr txBox="1"/>
          <p:nvPr/>
        </p:nvSpPr>
        <p:spPr>
          <a:xfrm>
            <a:off x="8641080" y="2999232"/>
            <a:ext cx="685800" cy="274320"/>
          </a:xfrm>
          <a:prstGeom prst="rect">
            <a:avLst/>
          </a:prstGeom>
          <a:noFill/>
          <a:ln/>
        </p:spPr>
        <p:txBody>
          <a:bodyPr wrap="square" lIns="0" tIns="0" rIns="0" bIns="0" rtlCol="0" anchor="ctr"/>
          <a:lstStyle/>
          <a:p>
            <a:pPr marL="0" indent="0" algn="ctr">
              <a:buNone/>
            </a:pPr>
            <a:r>
              <a:rPr lang="en-US" sz="900" b="1" dirty="0">
                <a:solidFill>
                  <a:srgbClr val="0A4F63"/>
                </a:solidFill>
                <a:latin typeface="Calibri" pitchFamily="34" charset="0"/>
                <a:ea typeface="Calibri" pitchFamily="34" charset="-122"/>
                <a:cs typeface="Calibri" pitchFamily="34" charset="-120"/>
              </a:rPr>
              <a:t>SQL</a:t>
            </a:r>
            <a:endParaRPr lang="en-US" sz="900" dirty="0"/>
          </a:p>
        </p:txBody>
      </p:sp>
      <p:sp>
        <p:nvSpPr>
          <p:cNvPr id="23" name="Shape 21"/>
          <p:cNvSpPr/>
          <p:nvPr/>
        </p:nvSpPr>
        <p:spPr>
          <a:xfrm>
            <a:off x="9418320" y="2880360"/>
            <a:ext cx="2194560" cy="868680"/>
          </a:xfrm>
          <a:prstGeom prst="rect">
            <a:avLst/>
          </a:prstGeom>
          <a:solidFill>
            <a:srgbClr val="F4F6F7"/>
          </a:solidFill>
          <a:ln w="12700">
            <a:solidFill>
              <a:srgbClr val="E1E4E6"/>
            </a:solidFill>
            <a:prstDash val="solid"/>
          </a:ln>
        </p:spPr>
        <p:txBody>
          <a:bodyPr/>
          <a:lstStyle/>
          <a:p>
            <a:endParaRPr lang="en-IN"/>
          </a:p>
        </p:txBody>
      </p:sp>
      <p:sp>
        <p:nvSpPr>
          <p:cNvPr id="24" name="Text 22"/>
          <p:cNvSpPr txBox="1"/>
          <p:nvPr/>
        </p:nvSpPr>
        <p:spPr>
          <a:xfrm>
            <a:off x="9418320" y="2971800"/>
            <a:ext cx="2194560" cy="310896"/>
          </a:xfrm>
          <a:prstGeom prst="rect">
            <a:avLst/>
          </a:prstGeom>
          <a:noFill/>
          <a:ln/>
        </p:spPr>
        <p:txBody>
          <a:bodyPr wrap="square" lIns="0" tIns="0" rIns="0" bIns="0" rtlCol="0" anchor="t"/>
          <a:lstStyle/>
          <a:p>
            <a:pPr marL="0" indent="0" algn="ctr">
              <a:buNone/>
            </a:pPr>
            <a:r>
              <a:rPr lang="en-US" sz="1300" b="1" dirty="0">
                <a:solidFill>
                  <a:srgbClr val="1A1A1A"/>
                </a:solidFill>
                <a:latin typeface="Calibri" pitchFamily="34" charset="0"/>
                <a:ea typeface="Calibri" pitchFamily="34" charset="-122"/>
                <a:cs typeface="Calibri" pitchFamily="34" charset="-120"/>
              </a:rPr>
              <a:t>PostgreSQL</a:t>
            </a:r>
            <a:endParaRPr lang="en-US" sz="1300" dirty="0"/>
          </a:p>
        </p:txBody>
      </p:sp>
      <p:sp>
        <p:nvSpPr>
          <p:cNvPr id="25" name="Text 23"/>
          <p:cNvSpPr txBox="1"/>
          <p:nvPr/>
        </p:nvSpPr>
        <p:spPr>
          <a:xfrm>
            <a:off x="9418320" y="3310128"/>
            <a:ext cx="2194560" cy="292608"/>
          </a:xfrm>
          <a:prstGeom prst="rect">
            <a:avLst/>
          </a:prstGeom>
          <a:noFill/>
          <a:ln/>
        </p:spPr>
        <p:txBody>
          <a:bodyPr wrap="square" lIns="0" tIns="0" rIns="0" bIns="0" rtlCol="0" anchor="t"/>
          <a:lstStyle/>
          <a:p>
            <a:pPr marL="0" indent="0" algn="ctr">
              <a:buNone/>
            </a:pPr>
            <a:r>
              <a:rPr lang="en-US" sz="950" dirty="0">
                <a:solidFill>
                  <a:srgbClr val="1A1A1A"/>
                </a:solidFill>
                <a:latin typeface="Calibri" pitchFamily="34" charset="0"/>
                <a:ea typeface="Calibri" pitchFamily="34" charset="-122"/>
                <a:cs typeface="Calibri" pitchFamily="34" charset="-120"/>
              </a:rPr>
              <a:t>devices • telemetry_metrics • alerts</a:t>
            </a:r>
            <a:endParaRPr lang="en-US" sz="950" dirty="0"/>
          </a:p>
        </p:txBody>
      </p:sp>
      <p:sp>
        <p:nvSpPr>
          <p:cNvPr id="26" name="Shape 24"/>
          <p:cNvSpPr/>
          <p:nvPr/>
        </p:nvSpPr>
        <p:spPr>
          <a:xfrm>
            <a:off x="10515600" y="3749040"/>
            <a:ext cx="0" cy="411480"/>
          </a:xfrm>
          <a:prstGeom prst="line">
            <a:avLst/>
          </a:prstGeom>
          <a:noFill/>
          <a:ln w="19050">
            <a:solidFill>
              <a:srgbClr val="5A6169"/>
            </a:solidFill>
            <a:prstDash val="solid"/>
            <a:tailEnd type="triangle"/>
          </a:ln>
        </p:spPr>
        <p:txBody>
          <a:bodyPr/>
          <a:lstStyle/>
          <a:p>
            <a:endParaRPr lang="en-IN"/>
          </a:p>
        </p:txBody>
      </p:sp>
      <p:sp>
        <p:nvSpPr>
          <p:cNvPr id="27" name="Shape 25"/>
          <p:cNvSpPr/>
          <p:nvPr/>
        </p:nvSpPr>
        <p:spPr>
          <a:xfrm>
            <a:off x="9052560" y="4160520"/>
            <a:ext cx="2560320" cy="868680"/>
          </a:xfrm>
          <a:prstGeom prst="rect">
            <a:avLst/>
          </a:prstGeom>
          <a:solidFill>
            <a:srgbClr val="0A4F63"/>
          </a:solidFill>
          <a:ln w="12700">
            <a:solidFill>
              <a:srgbClr val="E1E4E6"/>
            </a:solidFill>
            <a:prstDash val="solid"/>
          </a:ln>
        </p:spPr>
        <p:txBody>
          <a:bodyPr/>
          <a:lstStyle/>
          <a:p>
            <a:endParaRPr lang="en-IN"/>
          </a:p>
        </p:txBody>
      </p:sp>
      <p:sp>
        <p:nvSpPr>
          <p:cNvPr id="28" name="Text 26"/>
          <p:cNvSpPr txBox="1"/>
          <p:nvPr/>
        </p:nvSpPr>
        <p:spPr>
          <a:xfrm>
            <a:off x="9052560" y="4251960"/>
            <a:ext cx="2560320" cy="310896"/>
          </a:xfrm>
          <a:prstGeom prst="rect">
            <a:avLst/>
          </a:prstGeom>
          <a:noFill/>
          <a:ln/>
        </p:spPr>
        <p:txBody>
          <a:bodyPr wrap="square" lIns="0" tIns="0" rIns="0" bIns="0" rtlCol="0" anchor="t"/>
          <a:lstStyle/>
          <a:p>
            <a:pPr marL="0" indent="0" algn="ctr">
              <a:buNone/>
            </a:pPr>
            <a:r>
              <a:rPr lang="en-US" sz="1300" b="1" dirty="0">
                <a:solidFill>
                  <a:srgbClr val="FFFFFF"/>
                </a:solidFill>
                <a:latin typeface="Calibri" pitchFamily="34" charset="0"/>
                <a:ea typeface="Calibri" pitchFamily="34" charset="-122"/>
                <a:cs typeface="Calibri" pitchFamily="34" charset="-120"/>
              </a:rPr>
              <a:t>Grafana Dashboards</a:t>
            </a:r>
            <a:endParaRPr lang="en-US" sz="1300" dirty="0"/>
          </a:p>
        </p:txBody>
      </p:sp>
      <p:sp>
        <p:nvSpPr>
          <p:cNvPr id="29" name="Text 27"/>
          <p:cNvSpPr txBox="1"/>
          <p:nvPr/>
        </p:nvSpPr>
        <p:spPr>
          <a:xfrm>
            <a:off x="9052560" y="4590288"/>
            <a:ext cx="2560320" cy="292608"/>
          </a:xfrm>
          <a:prstGeom prst="rect">
            <a:avLst/>
          </a:prstGeom>
          <a:noFill/>
          <a:ln/>
        </p:spPr>
        <p:txBody>
          <a:bodyPr wrap="square" lIns="0" tIns="0" rIns="0" bIns="0" rtlCol="0" anchor="t"/>
          <a:lstStyle/>
          <a:p>
            <a:pPr marL="0" indent="0" algn="ctr">
              <a:buNone/>
            </a:pPr>
            <a:r>
              <a:rPr lang="en-US" sz="950" dirty="0">
                <a:solidFill>
                  <a:srgbClr val="FFFFFF"/>
                </a:solidFill>
                <a:latin typeface="Calibri" pitchFamily="34" charset="0"/>
                <a:ea typeface="Calibri" pitchFamily="34" charset="-122"/>
                <a:cs typeface="Calibri" pitchFamily="34" charset="-120"/>
              </a:rPr>
              <a:t>Reads PostgreSQL directly, 5–10s refresh</a:t>
            </a:r>
            <a:endParaRPr lang="en-US" sz="950" dirty="0"/>
          </a:p>
        </p:txBody>
      </p:sp>
      <p:sp>
        <p:nvSpPr>
          <p:cNvPr id="30" name="Text 28"/>
          <p:cNvSpPr txBox="1"/>
          <p:nvPr/>
        </p:nvSpPr>
        <p:spPr>
          <a:xfrm>
            <a:off x="548640" y="4023360"/>
            <a:ext cx="3657600" cy="256032"/>
          </a:xfrm>
          <a:prstGeom prst="rect">
            <a:avLst/>
          </a:prstGeom>
          <a:noFill/>
          <a:ln/>
        </p:spPr>
        <p:txBody>
          <a:bodyPr wrap="square" lIns="0" tIns="0" rIns="0" bIns="0" rtlCol="0" anchor="ctr"/>
          <a:lstStyle/>
          <a:p>
            <a:pPr marL="0" indent="0">
              <a:buNone/>
            </a:pPr>
            <a:r>
              <a:rPr lang="en-US" sz="1100" b="1" kern="0" spc="150" dirty="0">
                <a:solidFill>
                  <a:srgbClr val="0E6E8C"/>
                </a:solidFill>
                <a:latin typeface="Calibri" pitchFamily="34" charset="0"/>
                <a:ea typeface="Calibri" pitchFamily="34" charset="-122"/>
                <a:cs typeface="Calibri" pitchFamily="34" charset="-120"/>
              </a:rPr>
              <a:t>MECHANISM</a:t>
            </a:r>
            <a:endParaRPr lang="en-US" sz="1100" dirty="0"/>
          </a:p>
        </p:txBody>
      </p:sp>
      <p:sp>
        <p:nvSpPr>
          <p:cNvPr id="31" name="Text 29"/>
          <p:cNvSpPr txBox="1"/>
          <p:nvPr/>
        </p:nvSpPr>
        <p:spPr>
          <a:xfrm>
            <a:off x="548640" y="4315968"/>
            <a:ext cx="274320" cy="310896"/>
          </a:xfrm>
          <a:prstGeom prst="rect">
            <a:avLst/>
          </a:prstGeom>
          <a:noFill/>
          <a:ln/>
        </p:spPr>
        <p:txBody>
          <a:bodyPr wrap="square" lIns="0" tIns="0" rIns="0" bIns="0" rtlCol="0" anchor="ctr"/>
          <a:lstStyle/>
          <a:p>
            <a:pPr marL="0" indent="0">
              <a:buNone/>
            </a:pPr>
            <a:r>
              <a:rPr lang="en-US" sz="1100" b="1" dirty="0">
                <a:solidFill>
                  <a:srgbClr val="0E6E8C"/>
                </a:solidFill>
                <a:latin typeface="Calibri" pitchFamily="34" charset="0"/>
                <a:ea typeface="Calibri" pitchFamily="34" charset="-122"/>
                <a:cs typeface="Calibri" pitchFamily="34" charset="-120"/>
              </a:rPr>
              <a:t>1.</a:t>
            </a:r>
            <a:endParaRPr lang="en-US" sz="1100" dirty="0"/>
          </a:p>
        </p:txBody>
      </p:sp>
      <p:sp>
        <p:nvSpPr>
          <p:cNvPr id="32" name="Text 30"/>
          <p:cNvSpPr txBox="1"/>
          <p:nvPr/>
        </p:nvSpPr>
        <p:spPr>
          <a:xfrm>
            <a:off x="868680" y="4315968"/>
            <a:ext cx="7498080" cy="310896"/>
          </a:xfrm>
          <a:prstGeom prst="rect">
            <a:avLst/>
          </a:prstGeom>
          <a:noFill/>
          <a:ln/>
        </p:spPr>
        <p:txBody>
          <a:bodyPr wrap="square" lIns="0" tIns="0" rIns="0" bIns="0" rtlCol="0" anchor="t"/>
          <a:lstStyle/>
          <a:p>
            <a:pPr marL="0" indent="0">
              <a:buNone/>
            </a:pPr>
            <a:r>
              <a:rPr lang="en-US" sz="1100" dirty="0">
                <a:solidFill>
                  <a:srgbClr val="1A1A1A"/>
                </a:solidFill>
                <a:latin typeface="Calibri" pitchFamily="34" charset="0"/>
                <a:ea typeface="Calibri" pitchFamily="34" charset="-122"/>
                <a:cs typeface="Calibri" pitchFamily="34" charset="-120"/>
              </a:rPr>
              <a:t>Devices/simulator produce raw counters, collected once per poll interval</a:t>
            </a:r>
            <a:endParaRPr lang="en-US" sz="1100" dirty="0"/>
          </a:p>
        </p:txBody>
      </p:sp>
      <p:sp>
        <p:nvSpPr>
          <p:cNvPr id="33" name="Text 31"/>
          <p:cNvSpPr txBox="1"/>
          <p:nvPr/>
        </p:nvSpPr>
        <p:spPr>
          <a:xfrm>
            <a:off x="548640" y="4622292"/>
            <a:ext cx="274320" cy="310896"/>
          </a:xfrm>
          <a:prstGeom prst="rect">
            <a:avLst/>
          </a:prstGeom>
          <a:noFill/>
          <a:ln/>
        </p:spPr>
        <p:txBody>
          <a:bodyPr wrap="square" lIns="0" tIns="0" rIns="0" bIns="0" rtlCol="0" anchor="ctr"/>
          <a:lstStyle/>
          <a:p>
            <a:pPr marL="0" indent="0">
              <a:buNone/>
            </a:pPr>
            <a:r>
              <a:rPr lang="en-US" sz="1100" b="1" dirty="0">
                <a:solidFill>
                  <a:srgbClr val="0E6E8C"/>
                </a:solidFill>
                <a:latin typeface="Calibri" pitchFamily="34" charset="0"/>
                <a:ea typeface="Calibri" pitchFamily="34" charset="-122"/>
                <a:cs typeface="Calibri" pitchFamily="34" charset="-120"/>
              </a:rPr>
              <a:t>2.</a:t>
            </a:r>
            <a:endParaRPr lang="en-US" sz="1100" dirty="0"/>
          </a:p>
        </p:txBody>
      </p:sp>
      <p:sp>
        <p:nvSpPr>
          <p:cNvPr id="34" name="Text 32"/>
          <p:cNvSpPr txBox="1"/>
          <p:nvPr/>
        </p:nvSpPr>
        <p:spPr>
          <a:xfrm>
            <a:off x="868680" y="4622292"/>
            <a:ext cx="7498080" cy="310896"/>
          </a:xfrm>
          <a:prstGeom prst="rect">
            <a:avLst/>
          </a:prstGeom>
          <a:noFill/>
          <a:ln/>
        </p:spPr>
        <p:txBody>
          <a:bodyPr wrap="square" lIns="0" tIns="0" rIns="0" bIns="0" rtlCol="0" anchor="t"/>
          <a:lstStyle/>
          <a:p>
            <a:pPr marL="0" indent="0">
              <a:buNone/>
            </a:pPr>
            <a:r>
              <a:rPr lang="en-US" sz="1100" dirty="0">
                <a:solidFill>
                  <a:srgbClr val="1A1A1A"/>
                </a:solidFill>
                <a:latin typeface="Calibri" pitchFamily="34" charset="0"/>
                <a:ea typeface="Calibri" pitchFamily="34" charset="-122"/>
                <a:cs typeface="Calibri" pitchFamily="34" charset="-120"/>
              </a:rPr>
              <a:t>Collector differences two consecutive polls (actual elapsed time) → bandwidth/utilization</a:t>
            </a:r>
            <a:endParaRPr lang="en-US" sz="1100" dirty="0"/>
          </a:p>
        </p:txBody>
      </p:sp>
      <p:sp>
        <p:nvSpPr>
          <p:cNvPr id="35" name="Text 33"/>
          <p:cNvSpPr txBox="1"/>
          <p:nvPr/>
        </p:nvSpPr>
        <p:spPr>
          <a:xfrm>
            <a:off x="548640" y="4928616"/>
            <a:ext cx="274320" cy="310896"/>
          </a:xfrm>
          <a:prstGeom prst="rect">
            <a:avLst/>
          </a:prstGeom>
          <a:noFill/>
          <a:ln/>
        </p:spPr>
        <p:txBody>
          <a:bodyPr wrap="square" lIns="0" tIns="0" rIns="0" bIns="0" rtlCol="0" anchor="ctr"/>
          <a:lstStyle/>
          <a:p>
            <a:pPr marL="0" indent="0">
              <a:buNone/>
            </a:pPr>
            <a:r>
              <a:rPr lang="en-US" sz="1100" b="1" dirty="0">
                <a:solidFill>
                  <a:srgbClr val="0E6E8C"/>
                </a:solidFill>
                <a:latin typeface="Calibri" pitchFamily="34" charset="0"/>
                <a:ea typeface="Calibri" pitchFamily="34" charset="-122"/>
                <a:cs typeface="Calibri" pitchFamily="34" charset="-120"/>
              </a:rPr>
              <a:t>3.</a:t>
            </a:r>
            <a:endParaRPr lang="en-US" sz="1100" dirty="0"/>
          </a:p>
        </p:txBody>
      </p:sp>
      <p:sp>
        <p:nvSpPr>
          <p:cNvPr id="36" name="Text 34"/>
          <p:cNvSpPr txBox="1"/>
          <p:nvPr/>
        </p:nvSpPr>
        <p:spPr>
          <a:xfrm>
            <a:off x="868680" y="4928616"/>
            <a:ext cx="7498080" cy="310896"/>
          </a:xfrm>
          <a:prstGeom prst="rect">
            <a:avLst/>
          </a:prstGeom>
          <a:noFill/>
          <a:ln/>
        </p:spPr>
        <p:txBody>
          <a:bodyPr wrap="square" lIns="0" tIns="0" rIns="0" bIns="0" rtlCol="0" anchor="t"/>
          <a:lstStyle/>
          <a:p>
            <a:pPr marL="0" indent="0">
              <a:buNone/>
            </a:pPr>
            <a:r>
              <a:rPr lang="en-US" sz="1100" dirty="0">
                <a:solidFill>
                  <a:srgbClr val="1A1A1A"/>
                </a:solidFill>
                <a:latin typeface="Calibri" pitchFamily="34" charset="0"/>
                <a:ea typeface="Calibri" pitchFamily="34" charset="-122"/>
                <a:cs typeface="Calibri" pitchFamily="34" charset="-120"/>
              </a:rPr>
              <a:t>gRPC batches one TelemetryBatch per device per poll; retries with backoff if backend is down</a:t>
            </a:r>
            <a:endParaRPr lang="en-US" sz="1100" dirty="0"/>
          </a:p>
        </p:txBody>
      </p:sp>
      <p:sp>
        <p:nvSpPr>
          <p:cNvPr id="37" name="Text 35"/>
          <p:cNvSpPr txBox="1"/>
          <p:nvPr/>
        </p:nvSpPr>
        <p:spPr>
          <a:xfrm>
            <a:off x="548640" y="5234940"/>
            <a:ext cx="274320" cy="310896"/>
          </a:xfrm>
          <a:prstGeom prst="rect">
            <a:avLst/>
          </a:prstGeom>
          <a:noFill/>
          <a:ln/>
        </p:spPr>
        <p:txBody>
          <a:bodyPr wrap="square" lIns="0" tIns="0" rIns="0" bIns="0" rtlCol="0" anchor="ctr"/>
          <a:lstStyle/>
          <a:p>
            <a:pPr marL="0" indent="0">
              <a:buNone/>
            </a:pPr>
            <a:r>
              <a:rPr lang="en-US" sz="1100" b="1" dirty="0">
                <a:solidFill>
                  <a:srgbClr val="0E6E8C"/>
                </a:solidFill>
                <a:latin typeface="Calibri" pitchFamily="34" charset="0"/>
                <a:ea typeface="Calibri" pitchFamily="34" charset="-122"/>
                <a:cs typeface="Calibri" pitchFamily="34" charset="-120"/>
              </a:rPr>
              <a:t>4.</a:t>
            </a:r>
            <a:endParaRPr lang="en-US" sz="1100" dirty="0"/>
          </a:p>
        </p:txBody>
      </p:sp>
      <p:sp>
        <p:nvSpPr>
          <p:cNvPr id="38" name="Text 36"/>
          <p:cNvSpPr txBox="1"/>
          <p:nvPr/>
        </p:nvSpPr>
        <p:spPr>
          <a:xfrm>
            <a:off x="868680" y="5234940"/>
            <a:ext cx="7498080" cy="310896"/>
          </a:xfrm>
          <a:prstGeom prst="rect">
            <a:avLst/>
          </a:prstGeom>
          <a:noFill/>
          <a:ln/>
        </p:spPr>
        <p:txBody>
          <a:bodyPr wrap="square" lIns="0" tIns="0" rIns="0" bIns="0" rtlCol="0" anchor="t"/>
          <a:lstStyle/>
          <a:p>
            <a:pPr marL="0" indent="0">
              <a:buNone/>
            </a:pPr>
            <a:r>
              <a:rPr lang="en-US" sz="1100" dirty="0">
                <a:solidFill>
                  <a:srgbClr val="1A1A1A"/>
                </a:solidFill>
                <a:latin typeface="Calibri" pitchFamily="34" charset="0"/>
                <a:ea typeface="Calibri" pitchFamily="34" charset="-122"/>
                <a:cs typeface="Calibri" pitchFamily="34" charset="-120"/>
              </a:rPr>
              <a:t>Backend validates, ingests, evaluates thresholds; PostgreSQL persists with indexed schema</a:t>
            </a:r>
            <a:endParaRPr lang="en-US" sz="1100" dirty="0"/>
          </a:p>
        </p:txBody>
      </p:sp>
      <p:sp>
        <p:nvSpPr>
          <p:cNvPr id="39" name="Text 37"/>
          <p:cNvSpPr txBox="1"/>
          <p:nvPr/>
        </p:nvSpPr>
        <p:spPr>
          <a:xfrm>
            <a:off x="548640" y="5541264"/>
            <a:ext cx="274320" cy="310896"/>
          </a:xfrm>
          <a:prstGeom prst="rect">
            <a:avLst/>
          </a:prstGeom>
          <a:noFill/>
          <a:ln/>
        </p:spPr>
        <p:txBody>
          <a:bodyPr wrap="square" lIns="0" tIns="0" rIns="0" bIns="0" rtlCol="0" anchor="ctr"/>
          <a:lstStyle/>
          <a:p>
            <a:pPr marL="0" indent="0">
              <a:buNone/>
            </a:pPr>
            <a:r>
              <a:rPr lang="en-US" sz="1100" b="1" dirty="0">
                <a:solidFill>
                  <a:srgbClr val="0E6E8C"/>
                </a:solidFill>
                <a:latin typeface="Calibri" pitchFamily="34" charset="0"/>
                <a:ea typeface="Calibri" pitchFamily="34" charset="-122"/>
                <a:cs typeface="Calibri" pitchFamily="34" charset="-120"/>
              </a:rPr>
              <a:t>5.</a:t>
            </a:r>
            <a:endParaRPr lang="en-US" sz="1100" dirty="0"/>
          </a:p>
        </p:txBody>
      </p:sp>
      <p:sp>
        <p:nvSpPr>
          <p:cNvPr id="40" name="Text 38"/>
          <p:cNvSpPr txBox="1"/>
          <p:nvPr/>
        </p:nvSpPr>
        <p:spPr>
          <a:xfrm>
            <a:off x="868680" y="5541264"/>
            <a:ext cx="7498080" cy="310896"/>
          </a:xfrm>
          <a:prstGeom prst="rect">
            <a:avLst/>
          </a:prstGeom>
          <a:noFill/>
          <a:ln/>
        </p:spPr>
        <p:txBody>
          <a:bodyPr wrap="square" lIns="0" tIns="0" rIns="0" bIns="0" rtlCol="0" anchor="t"/>
          <a:lstStyle/>
          <a:p>
            <a:pPr marL="0" indent="0">
              <a:buNone/>
            </a:pPr>
            <a:r>
              <a:rPr lang="en-US" sz="1100" dirty="0">
                <a:solidFill>
                  <a:srgbClr val="1A1A1A"/>
                </a:solidFill>
                <a:latin typeface="Calibri" pitchFamily="34" charset="0"/>
                <a:ea typeface="Calibri" pitchFamily="34" charset="-122"/>
                <a:cs typeface="Calibri" pitchFamily="34" charset="-120"/>
              </a:rPr>
              <a:t>Grafana queries PostgreSQL directly — no custom plugin, no streaming layer</a:t>
            </a:r>
            <a:endParaRPr lang="en-US" sz="1100" dirty="0"/>
          </a:p>
        </p:txBody>
      </p:sp>
      <p:sp>
        <p:nvSpPr>
          <p:cNvPr id="41" name="Text 39"/>
          <p:cNvSpPr txBox="1"/>
          <p:nvPr/>
        </p:nvSpPr>
        <p:spPr>
          <a:xfrm>
            <a:off x="548640" y="6446520"/>
            <a:ext cx="7315200" cy="320040"/>
          </a:xfrm>
          <a:prstGeom prst="rect">
            <a:avLst/>
          </a:prstGeom>
          <a:noFill/>
          <a:ln/>
        </p:spPr>
        <p:txBody>
          <a:bodyPr wrap="square" lIns="0" tIns="0" rIns="0" bIns="0" rtlCol="0" anchor="ctr"/>
          <a:lstStyle/>
          <a:p>
            <a:pPr marL="0" indent="0">
              <a:buNone/>
            </a:pPr>
            <a:r>
              <a:rPr lang="en-US" sz="1000" dirty="0">
                <a:solidFill>
                  <a:srgbClr val="5A6169"/>
                </a:solidFill>
                <a:latin typeface="Calibri" pitchFamily="34" charset="0"/>
                <a:ea typeface="Calibri" pitchFamily="34" charset="-122"/>
                <a:cs typeface="Calibri" pitchFamily="34" charset="-120"/>
              </a:rPr>
              <a:t>Network Telemetry &amp; Real-Time Network Performance Monitoring System</a:t>
            </a:r>
            <a:endParaRPr lang="en-US" sz="1000" dirty="0"/>
          </a:p>
        </p:txBody>
      </p:sp>
      <p:sp>
        <p:nvSpPr>
          <p:cNvPr id="42" name="Text 40"/>
          <p:cNvSpPr txBox="1"/>
          <p:nvPr/>
        </p:nvSpPr>
        <p:spPr>
          <a:xfrm>
            <a:off x="11475720" y="6446520"/>
            <a:ext cx="640080" cy="320040"/>
          </a:xfrm>
          <a:prstGeom prst="rect">
            <a:avLst/>
          </a:prstGeom>
          <a:noFill/>
          <a:ln/>
        </p:spPr>
        <p:txBody>
          <a:bodyPr wrap="square" lIns="0" tIns="0" rIns="0" bIns="0" rtlCol="0" anchor="ctr"/>
          <a:lstStyle/>
          <a:p>
            <a:pPr marL="0" indent="0" algn="r">
              <a:buNone/>
            </a:pPr>
            <a:r>
              <a:rPr lang="en-US" sz="1100" dirty="0">
                <a:solidFill>
                  <a:srgbClr val="5A6169"/>
                </a:solidFill>
                <a:latin typeface="Calibri" pitchFamily="34" charset="0"/>
                <a:ea typeface="Calibri" pitchFamily="34" charset="-122"/>
                <a:cs typeface="Calibri" pitchFamily="34" charset="-120"/>
              </a:rPr>
              <a:t>02</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92608"/>
            <a:ext cx="7315200" cy="274320"/>
          </a:xfrm>
          <a:prstGeom prst="rect">
            <a:avLst/>
          </a:prstGeom>
          <a:noFill/>
          <a:ln/>
        </p:spPr>
        <p:txBody>
          <a:bodyPr wrap="square" lIns="0" tIns="0" rIns="0" bIns="0" rtlCol="0" anchor="ctr"/>
          <a:lstStyle/>
          <a:p>
            <a:pPr marL="0" indent="0">
              <a:buNone/>
            </a:pPr>
            <a:r>
              <a:rPr lang="en-US" sz="1200" b="1" kern="0" spc="200" dirty="0">
                <a:solidFill>
                  <a:srgbClr val="0E6E8C"/>
                </a:solidFill>
                <a:latin typeface="Calibri" pitchFamily="34" charset="0"/>
                <a:ea typeface="Calibri" pitchFamily="34" charset="-122"/>
                <a:cs typeface="Calibri" pitchFamily="34" charset="-120"/>
              </a:rPr>
              <a:t>03 — WHAT WE BUILT</a:t>
            </a:r>
            <a:endParaRPr lang="en-US" sz="1200" dirty="0"/>
          </a:p>
        </p:txBody>
      </p:sp>
      <p:sp>
        <p:nvSpPr>
          <p:cNvPr id="3" name="Text 1"/>
          <p:cNvSpPr txBox="1"/>
          <p:nvPr/>
        </p:nvSpPr>
        <p:spPr>
          <a:xfrm>
            <a:off x="548640" y="566928"/>
            <a:ext cx="10515600" cy="640080"/>
          </a:xfrm>
          <a:prstGeom prst="rect">
            <a:avLst/>
          </a:prstGeom>
          <a:noFill/>
          <a:ln/>
        </p:spPr>
        <p:txBody>
          <a:bodyPr wrap="square" lIns="0" tIns="0" rIns="0" bIns="0" rtlCol="0" anchor="ctr"/>
          <a:lstStyle/>
          <a:p>
            <a:pPr marL="0" indent="0">
              <a:buNone/>
            </a:pPr>
            <a:r>
              <a:rPr lang="en-US" sz="2700" b="1" dirty="0">
                <a:solidFill>
                  <a:srgbClr val="1A1A1A"/>
                </a:solidFill>
                <a:latin typeface="Cambria" pitchFamily="34" charset="0"/>
                <a:ea typeface="Cambria" pitchFamily="34" charset="-122"/>
                <a:cs typeface="Cambria" pitchFamily="34" charset="-120"/>
              </a:rPr>
              <a:t>Extension, Issues Fixed &amp; Evaluation</a:t>
            </a:r>
            <a:endParaRPr lang="en-US" sz="2700" dirty="0"/>
          </a:p>
        </p:txBody>
      </p:sp>
      <p:sp>
        <p:nvSpPr>
          <p:cNvPr id="4" name="Shape 2"/>
          <p:cNvSpPr/>
          <p:nvPr/>
        </p:nvSpPr>
        <p:spPr>
          <a:xfrm>
            <a:off x="548640" y="1371600"/>
            <a:ext cx="3657600" cy="4892040"/>
          </a:xfrm>
          <a:prstGeom prst="rect">
            <a:avLst/>
          </a:prstGeom>
          <a:solidFill>
            <a:srgbClr val="F4F6F7"/>
          </a:solidFill>
          <a:ln/>
        </p:spPr>
        <p:txBody>
          <a:bodyPr/>
          <a:lstStyle/>
          <a:p>
            <a:endParaRPr lang="en-IN"/>
          </a:p>
        </p:txBody>
      </p:sp>
      <p:sp>
        <p:nvSpPr>
          <p:cNvPr id="5" name="Text 3"/>
          <p:cNvSpPr txBox="1"/>
          <p:nvPr/>
        </p:nvSpPr>
        <p:spPr>
          <a:xfrm>
            <a:off x="731520" y="1508760"/>
            <a:ext cx="3291840" cy="457200"/>
          </a:xfrm>
          <a:prstGeom prst="rect">
            <a:avLst/>
          </a:prstGeom>
          <a:noFill/>
          <a:ln/>
        </p:spPr>
        <p:txBody>
          <a:bodyPr wrap="square" lIns="0" tIns="0" rIns="0" bIns="0" rtlCol="0" anchor="ctr"/>
          <a:lstStyle/>
          <a:p>
            <a:pPr marL="0" indent="0">
              <a:lnSpc>
                <a:spcPct val="105000"/>
              </a:lnSpc>
              <a:buNone/>
            </a:pPr>
            <a:r>
              <a:rPr lang="en-US" sz="1150" b="1" dirty="0">
                <a:solidFill>
                  <a:srgbClr val="0E6E8C"/>
                </a:solidFill>
                <a:latin typeface="Calibri" pitchFamily="34" charset="0"/>
                <a:ea typeface="Calibri" pitchFamily="34" charset="-122"/>
                <a:cs typeface="Calibri" pitchFamily="34" charset="-120"/>
              </a:rPr>
              <a:t>A. EXTENSION / IMPLEMENTATION</a:t>
            </a:r>
            <a:endParaRPr lang="en-US" sz="1150" dirty="0"/>
          </a:p>
        </p:txBody>
      </p:sp>
      <p:sp>
        <p:nvSpPr>
          <p:cNvPr id="6" name="Text 4"/>
          <p:cNvSpPr txBox="1"/>
          <p:nvPr/>
        </p:nvSpPr>
        <p:spPr>
          <a:xfrm>
            <a:off x="731520" y="1993392"/>
            <a:ext cx="3291840" cy="457200"/>
          </a:xfrm>
          <a:prstGeom prst="rect">
            <a:avLst/>
          </a:prstGeom>
          <a:noFill/>
          <a:ln/>
        </p:spPr>
        <p:txBody>
          <a:bodyPr wrap="square" lIns="0" tIns="0" rIns="0" bIns="0" rtlCol="0" anchor="t"/>
          <a:lstStyle/>
          <a:p>
            <a:pPr marL="0" indent="0">
              <a:lnSpc>
                <a:spcPct val="105000"/>
              </a:lnSpc>
              <a:buNone/>
            </a:pPr>
            <a:r>
              <a:rPr lang="en-US" sz="1050" dirty="0">
                <a:solidFill>
                  <a:srgbClr val="1A1A1A"/>
                </a:solidFill>
                <a:latin typeface="Calibri" pitchFamily="34" charset="0"/>
                <a:ea typeface="Calibri" pitchFamily="34" charset="-122"/>
                <a:cs typeface="Calibri" pitchFamily="34" charset="-120"/>
              </a:rPr>
              <a:t>• SNMPv2c collector (pysnmp) polling MIB-2/IF-MIB OIDs</a:t>
            </a:r>
            <a:endParaRPr lang="en-US" sz="1050" dirty="0"/>
          </a:p>
        </p:txBody>
      </p:sp>
      <p:sp>
        <p:nvSpPr>
          <p:cNvPr id="7" name="Text 5"/>
          <p:cNvSpPr txBox="1"/>
          <p:nvPr/>
        </p:nvSpPr>
        <p:spPr>
          <a:xfrm>
            <a:off x="731520" y="2519172"/>
            <a:ext cx="3291840" cy="457200"/>
          </a:xfrm>
          <a:prstGeom prst="rect">
            <a:avLst/>
          </a:prstGeom>
          <a:noFill/>
          <a:ln/>
        </p:spPr>
        <p:txBody>
          <a:bodyPr wrap="square" lIns="0" tIns="0" rIns="0" bIns="0" rtlCol="0" anchor="t"/>
          <a:lstStyle/>
          <a:p>
            <a:pPr marL="0" indent="0">
              <a:lnSpc>
                <a:spcPct val="105000"/>
              </a:lnSpc>
              <a:buNone/>
            </a:pPr>
            <a:r>
              <a:rPr lang="en-US" sz="1050" dirty="0">
                <a:solidFill>
                  <a:srgbClr val="1A1A1A"/>
                </a:solidFill>
                <a:latin typeface="Calibri" pitchFamily="34" charset="0"/>
                <a:ea typeface="Calibri" pitchFamily="34" charset="-122"/>
                <a:cs typeface="Calibri" pitchFamily="34" charset="-120"/>
              </a:rPr>
              <a:t>• Custom simulator — 6 deterministic scenarios</a:t>
            </a:r>
            <a:endParaRPr lang="en-US" sz="1050" dirty="0"/>
          </a:p>
        </p:txBody>
      </p:sp>
      <p:sp>
        <p:nvSpPr>
          <p:cNvPr id="8" name="Text 6"/>
          <p:cNvSpPr txBox="1"/>
          <p:nvPr/>
        </p:nvSpPr>
        <p:spPr>
          <a:xfrm>
            <a:off x="731520" y="3044952"/>
            <a:ext cx="3291840" cy="457200"/>
          </a:xfrm>
          <a:prstGeom prst="rect">
            <a:avLst/>
          </a:prstGeom>
          <a:noFill/>
          <a:ln/>
        </p:spPr>
        <p:txBody>
          <a:bodyPr wrap="square" lIns="0" tIns="0" rIns="0" bIns="0" rtlCol="0" anchor="t"/>
          <a:lstStyle/>
          <a:p>
            <a:pPr marL="0" indent="0">
              <a:lnSpc>
                <a:spcPct val="105000"/>
              </a:lnSpc>
              <a:buNone/>
            </a:pPr>
            <a:r>
              <a:rPr lang="en-US" sz="1050" dirty="0">
                <a:solidFill>
                  <a:srgbClr val="1A1A1A"/>
                </a:solidFill>
                <a:latin typeface="Calibri" pitchFamily="34" charset="0"/>
                <a:ea typeface="Calibri" pitchFamily="34" charset="-122"/>
                <a:cs typeface="Calibri" pitchFamily="34" charset="-120"/>
              </a:rPr>
              <a:t>• gRPC + Protobuf transport, retry/backoff</a:t>
            </a:r>
            <a:endParaRPr lang="en-US" sz="1050" dirty="0"/>
          </a:p>
        </p:txBody>
      </p:sp>
      <p:sp>
        <p:nvSpPr>
          <p:cNvPr id="9" name="Text 7"/>
          <p:cNvSpPr txBox="1"/>
          <p:nvPr/>
        </p:nvSpPr>
        <p:spPr>
          <a:xfrm>
            <a:off x="731520" y="3570732"/>
            <a:ext cx="3291840" cy="457200"/>
          </a:xfrm>
          <a:prstGeom prst="rect">
            <a:avLst/>
          </a:prstGeom>
          <a:noFill/>
          <a:ln/>
        </p:spPr>
        <p:txBody>
          <a:bodyPr wrap="square" lIns="0" tIns="0" rIns="0" bIns="0" rtlCol="0" anchor="t"/>
          <a:lstStyle/>
          <a:p>
            <a:pPr marL="0" indent="0">
              <a:lnSpc>
                <a:spcPct val="105000"/>
              </a:lnSpc>
              <a:buNone/>
            </a:pPr>
            <a:r>
              <a:rPr lang="en-US" sz="1050" dirty="0">
                <a:solidFill>
                  <a:srgbClr val="1A1A1A"/>
                </a:solidFill>
                <a:latin typeface="Calibri" pitchFamily="34" charset="0"/>
                <a:ea typeface="Calibri" pitchFamily="34" charset="-122"/>
                <a:cs typeface="Calibri" pitchFamily="34" charset="-120"/>
              </a:rPr>
              <a:t>• FastAPI REST API: /devices, /metrics, /metrics/export (CSV), /alerts</a:t>
            </a:r>
            <a:endParaRPr lang="en-US" sz="1050" dirty="0"/>
          </a:p>
        </p:txBody>
      </p:sp>
      <p:sp>
        <p:nvSpPr>
          <p:cNvPr id="10" name="Text 8"/>
          <p:cNvSpPr txBox="1"/>
          <p:nvPr/>
        </p:nvSpPr>
        <p:spPr>
          <a:xfrm>
            <a:off x="731520" y="4096512"/>
            <a:ext cx="3291840" cy="457200"/>
          </a:xfrm>
          <a:prstGeom prst="rect">
            <a:avLst/>
          </a:prstGeom>
          <a:noFill/>
          <a:ln/>
        </p:spPr>
        <p:txBody>
          <a:bodyPr wrap="square" lIns="0" tIns="0" rIns="0" bIns="0" rtlCol="0" anchor="t"/>
          <a:lstStyle/>
          <a:p>
            <a:pPr marL="0" indent="0">
              <a:lnSpc>
                <a:spcPct val="105000"/>
              </a:lnSpc>
              <a:buNone/>
            </a:pPr>
            <a:r>
              <a:rPr lang="en-US" sz="1050" dirty="0">
                <a:solidFill>
                  <a:srgbClr val="1A1A1A"/>
                </a:solidFill>
                <a:latin typeface="Calibri" pitchFamily="34" charset="0"/>
                <a:ea typeface="Calibri" pitchFamily="34" charset="-122"/>
                <a:cs typeface="Calibri" pitchFamily="34" charset="-120"/>
              </a:rPr>
              <a:t>• PostgreSQL persistence, composite indexes</a:t>
            </a:r>
            <a:endParaRPr lang="en-US" sz="1050" dirty="0"/>
          </a:p>
        </p:txBody>
      </p:sp>
      <p:sp>
        <p:nvSpPr>
          <p:cNvPr id="11" name="Text 9"/>
          <p:cNvSpPr txBox="1"/>
          <p:nvPr/>
        </p:nvSpPr>
        <p:spPr>
          <a:xfrm>
            <a:off x="731520" y="4622292"/>
            <a:ext cx="3291840" cy="457200"/>
          </a:xfrm>
          <a:prstGeom prst="rect">
            <a:avLst/>
          </a:prstGeom>
          <a:noFill/>
          <a:ln/>
        </p:spPr>
        <p:txBody>
          <a:bodyPr wrap="square" lIns="0" tIns="0" rIns="0" bIns="0" rtlCol="0" anchor="t"/>
          <a:lstStyle/>
          <a:p>
            <a:pPr marL="0" indent="0">
              <a:lnSpc>
                <a:spcPct val="105000"/>
              </a:lnSpc>
              <a:buNone/>
            </a:pPr>
            <a:r>
              <a:rPr lang="en-US" sz="1050" dirty="0">
                <a:solidFill>
                  <a:srgbClr val="1A1A1A"/>
                </a:solidFill>
                <a:latin typeface="Calibri" pitchFamily="34" charset="0"/>
                <a:ea typeface="Calibri" pitchFamily="34" charset="-122"/>
                <a:cs typeface="Calibri" pitchFamily="34" charset="-120"/>
              </a:rPr>
              <a:t>• Threshold alert engine — dedup + auto-recovery</a:t>
            </a:r>
            <a:endParaRPr lang="en-US" sz="1050" dirty="0"/>
          </a:p>
        </p:txBody>
      </p:sp>
      <p:sp>
        <p:nvSpPr>
          <p:cNvPr id="12" name="Text 10"/>
          <p:cNvSpPr txBox="1"/>
          <p:nvPr/>
        </p:nvSpPr>
        <p:spPr>
          <a:xfrm>
            <a:off x="731520" y="5148072"/>
            <a:ext cx="3291840" cy="457200"/>
          </a:xfrm>
          <a:prstGeom prst="rect">
            <a:avLst/>
          </a:prstGeom>
          <a:noFill/>
          <a:ln/>
        </p:spPr>
        <p:txBody>
          <a:bodyPr wrap="square" lIns="0" tIns="0" rIns="0" bIns="0" rtlCol="0" anchor="t"/>
          <a:lstStyle/>
          <a:p>
            <a:pPr marL="0" indent="0">
              <a:lnSpc>
                <a:spcPct val="105000"/>
              </a:lnSpc>
              <a:buNone/>
            </a:pPr>
            <a:r>
              <a:rPr lang="en-US" sz="1050" dirty="0">
                <a:solidFill>
                  <a:srgbClr val="1A1A1A"/>
                </a:solidFill>
                <a:latin typeface="Calibri" pitchFamily="34" charset="0"/>
                <a:ea typeface="Calibri" pitchFamily="34" charset="-122"/>
                <a:cs typeface="Calibri" pitchFamily="34" charset="-120"/>
              </a:rPr>
              <a:t>• 4 Grafana dashboards (Overview, Bandwidth, Latency, Alerts)</a:t>
            </a:r>
            <a:endParaRPr lang="en-US" sz="1050" dirty="0"/>
          </a:p>
        </p:txBody>
      </p:sp>
      <p:sp>
        <p:nvSpPr>
          <p:cNvPr id="13" name="Text 11"/>
          <p:cNvSpPr txBox="1"/>
          <p:nvPr/>
        </p:nvSpPr>
        <p:spPr>
          <a:xfrm>
            <a:off x="731520" y="5673852"/>
            <a:ext cx="3291840" cy="457200"/>
          </a:xfrm>
          <a:prstGeom prst="rect">
            <a:avLst/>
          </a:prstGeom>
          <a:noFill/>
          <a:ln/>
        </p:spPr>
        <p:txBody>
          <a:bodyPr wrap="square" lIns="0" tIns="0" rIns="0" bIns="0" rtlCol="0" anchor="t"/>
          <a:lstStyle/>
          <a:p>
            <a:pPr marL="0" indent="0">
              <a:lnSpc>
                <a:spcPct val="105000"/>
              </a:lnSpc>
              <a:buNone/>
            </a:pPr>
            <a:r>
              <a:rPr lang="en-US" sz="1050" dirty="0">
                <a:solidFill>
                  <a:srgbClr val="1A1A1A"/>
                </a:solidFill>
                <a:latin typeface="Calibri" pitchFamily="34" charset="0"/>
                <a:ea typeface="Calibri" pitchFamily="34" charset="-122"/>
                <a:cs typeface="Calibri" pitchFamily="34" charset="-120"/>
              </a:rPr>
              <a:t>• Real GNS3/VyOS SNMP validation — zero code change</a:t>
            </a:r>
            <a:endParaRPr lang="en-US" sz="1050" dirty="0"/>
          </a:p>
        </p:txBody>
      </p:sp>
      <p:sp>
        <p:nvSpPr>
          <p:cNvPr id="14" name="Shape 12"/>
          <p:cNvSpPr/>
          <p:nvPr/>
        </p:nvSpPr>
        <p:spPr>
          <a:xfrm>
            <a:off x="4434840" y="1371600"/>
            <a:ext cx="3657600" cy="4892040"/>
          </a:xfrm>
          <a:prstGeom prst="rect">
            <a:avLst/>
          </a:prstGeom>
          <a:solidFill>
            <a:srgbClr val="F4F6F7"/>
          </a:solidFill>
          <a:ln/>
        </p:spPr>
        <p:txBody>
          <a:bodyPr/>
          <a:lstStyle/>
          <a:p>
            <a:endParaRPr lang="en-IN"/>
          </a:p>
        </p:txBody>
      </p:sp>
      <p:sp>
        <p:nvSpPr>
          <p:cNvPr id="15" name="Text 13"/>
          <p:cNvSpPr txBox="1"/>
          <p:nvPr/>
        </p:nvSpPr>
        <p:spPr>
          <a:xfrm>
            <a:off x="4617720" y="1508760"/>
            <a:ext cx="3291840" cy="274320"/>
          </a:xfrm>
          <a:prstGeom prst="rect">
            <a:avLst/>
          </a:prstGeom>
          <a:noFill/>
          <a:ln/>
        </p:spPr>
        <p:txBody>
          <a:bodyPr wrap="square" lIns="0" tIns="0" rIns="0" bIns="0" rtlCol="0" anchor="ctr"/>
          <a:lstStyle/>
          <a:p>
            <a:pPr marL="0" indent="0">
              <a:buNone/>
            </a:pPr>
            <a:r>
              <a:rPr lang="en-US" sz="1150" b="1" dirty="0">
                <a:solidFill>
                  <a:srgbClr val="0E6E8C"/>
                </a:solidFill>
                <a:latin typeface="Calibri" pitchFamily="34" charset="0"/>
                <a:ea typeface="Calibri" pitchFamily="34" charset="-122"/>
                <a:cs typeface="Calibri" pitchFamily="34" charset="-120"/>
              </a:rPr>
              <a:t>B. ISSUES FIXED</a:t>
            </a:r>
            <a:endParaRPr lang="en-US" sz="1150" dirty="0"/>
          </a:p>
        </p:txBody>
      </p:sp>
      <p:sp>
        <p:nvSpPr>
          <p:cNvPr id="16" name="Text 14"/>
          <p:cNvSpPr txBox="1"/>
          <p:nvPr/>
        </p:nvSpPr>
        <p:spPr>
          <a:xfrm>
            <a:off x="4617720" y="1874520"/>
            <a:ext cx="3291840" cy="1417320"/>
          </a:xfrm>
          <a:prstGeom prst="rect">
            <a:avLst/>
          </a:prstGeom>
          <a:noFill/>
          <a:ln/>
        </p:spPr>
        <p:txBody>
          <a:bodyPr wrap="square" lIns="0" tIns="0" rIns="0" bIns="0" rtlCol="0" anchor="t"/>
          <a:lstStyle/>
          <a:p>
            <a:pPr marL="0" indent="0">
              <a:lnSpc>
                <a:spcPct val="112000"/>
              </a:lnSpc>
              <a:buNone/>
            </a:pPr>
            <a:r>
              <a:rPr lang="en-US" sz="1000" b="1" dirty="0">
                <a:solidFill>
                  <a:srgbClr val="B23A2E"/>
                </a:solidFill>
                <a:latin typeface="Calibri" pitchFamily="34" charset="0"/>
                <a:ea typeface="Calibri" pitchFamily="34" charset="-122"/>
                <a:cs typeface="Calibri" pitchFamily="34" charset="-120"/>
              </a:rPr>
              <a:t>Issue:  </a:t>
            </a:r>
            <a:r>
              <a:rPr lang="en-US" sz="1000" dirty="0">
                <a:solidFill>
                  <a:srgbClr val="1A1A1A"/>
                </a:solidFill>
                <a:latin typeface="Calibri" pitchFamily="34" charset="0"/>
                <a:ea typeface="Calibri" pitchFamily="34" charset="-122"/>
                <a:cs typeface="Calibri" pitchFamily="34" charset="-120"/>
              </a:rPr>
              <a:t>Backend crash-looped: “password authentication failed”
</a:t>
            </a:r>
            <a:r>
              <a:rPr lang="en-US" sz="1000" b="1" dirty="0">
                <a:solidFill>
                  <a:srgbClr val="C07A1E"/>
                </a:solidFill>
                <a:latin typeface="Calibri" pitchFamily="34" charset="0"/>
                <a:ea typeface="Calibri" pitchFamily="34" charset="-122"/>
                <a:cs typeface="Calibri" pitchFamily="34" charset="-120"/>
              </a:rPr>
              <a:t>Cause:  </a:t>
            </a:r>
            <a:r>
              <a:rPr lang="en-US" sz="1000" dirty="0">
                <a:solidFill>
                  <a:srgbClr val="1A1A1A"/>
                </a:solidFill>
                <a:latin typeface="Calibri" pitchFamily="34" charset="0"/>
                <a:ea typeface="Calibri" pitchFamily="34" charset="-122"/>
                <a:cs typeface="Calibri" pitchFamily="34" charset="-120"/>
              </a:rPr>
              <a:t>Postgres password set only at first container startup; stale data volume
</a:t>
            </a:r>
            <a:r>
              <a:rPr lang="en-US" sz="1000" b="1" dirty="0">
                <a:solidFill>
                  <a:srgbClr val="2E7D5B"/>
                </a:solidFill>
                <a:latin typeface="Calibri" pitchFamily="34" charset="0"/>
                <a:ea typeface="Calibri" pitchFamily="34" charset="-122"/>
                <a:cs typeface="Calibri" pitchFamily="34" charset="-120"/>
              </a:rPr>
              <a:t>Fix:  </a:t>
            </a:r>
            <a:r>
              <a:rPr lang="en-US" sz="1000" dirty="0">
                <a:solidFill>
                  <a:srgbClr val="1A1A1A"/>
                </a:solidFill>
                <a:latin typeface="Calibri" pitchFamily="34" charset="0"/>
                <a:ea typeface="Calibri" pitchFamily="34" charset="-122"/>
                <a:cs typeface="Calibri" pitchFamily="34" charset="-120"/>
              </a:rPr>
              <a:t>Cleared the data volume, reinitialized cleanly</a:t>
            </a:r>
            <a:endParaRPr lang="en-US" sz="1000" dirty="0"/>
          </a:p>
        </p:txBody>
      </p:sp>
      <p:sp>
        <p:nvSpPr>
          <p:cNvPr id="17" name="Shape 15"/>
          <p:cNvSpPr/>
          <p:nvPr/>
        </p:nvSpPr>
        <p:spPr>
          <a:xfrm>
            <a:off x="4617720" y="3383280"/>
            <a:ext cx="3291840" cy="0"/>
          </a:xfrm>
          <a:prstGeom prst="line">
            <a:avLst/>
          </a:prstGeom>
          <a:noFill/>
          <a:ln w="9525">
            <a:solidFill>
              <a:srgbClr val="E1E4E6"/>
            </a:solidFill>
            <a:prstDash val="solid"/>
          </a:ln>
        </p:spPr>
        <p:txBody>
          <a:bodyPr/>
          <a:lstStyle/>
          <a:p>
            <a:endParaRPr lang="en-IN"/>
          </a:p>
        </p:txBody>
      </p:sp>
      <p:sp>
        <p:nvSpPr>
          <p:cNvPr id="18" name="Text 16"/>
          <p:cNvSpPr txBox="1"/>
          <p:nvPr/>
        </p:nvSpPr>
        <p:spPr>
          <a:xfrm>
            <a:off x="4617720" y="3520440"/>
            <a:ext cx="3291840" cy="1417320"/>
          </a:xfrm>
          <a:prstGeom prst="rect">
            <a:avLst/>
          </a:prstGeom>
          <a:noFill/>
          <a:ln/>
        </p:spPr>
        <p:txBody>
          <a:bodyPr wrap="square" lIns="0" tIns="0" rIns="0" bIns="0" rtlCol="0" anchor="t"/>
          <a:lstStyle/>
          <a:p>
            <a:pPr marL="0" indent="0">
              <a:lnSpc>
                <a:spcPct val="112000"/>
              </a:lnSpc>
              <a:buNone/>
            </a:pPr>
            <a:r>
              <a:rPr lang="en-US" sz="1000" b="1" dirty="0">
                <a:solidFill>
                  <a:srgbClr val="B23A2E"/>
                </a:solidFill>
                <a:latin typeface="Calibri" pitchFamily="34" charset="0"/>
                <a:ea typeface="Calibri" pitchFamily="34" charset="-122"/>
                <a:cs typeface="Calibri" pitchFamily="34" charset="-120"/>
              </a:rPr>
              <a:t>Issue:  </a:t>
            </a:r>
            <a:r>
              <a:rPr lang="en-US" sz="1000" dirty="0">
                <a:solidFill>
                  <a:srgbClr val="1A1A1A"/>
                </a:solidFill>
                <a:latin typeface="Calibri" pitchFamily="34" charset="0"/>
                <a:ea typeface="Calibri" pitchFamily="34" charset="-122"/>
                <a:cs typeface="Calibri" pitchFamily="34" charset="-120"/>
              </a:rPr>
              <a:t>snmpd failed to start (“unknown token”, “error opening endpoint”)
</a:t>
            </a:r>
            <a:r>
              <a:rPr lang="en-US" sz="1000" b="1" dirty="0">
                <a:solidFill>
                  <a:srgbClr val="C07A1E"/>
                </a:solidFill>
                <a:latin typeface="Calibri" pitchFamily="34" charset="0"/>
                <a:ea typeface="Calibri" pitchFamily="34" charset="-122"/>
                <a:cs typeface="Calibri" pitchFamily="34" charset="-120"/>
              </a:rPr>
              <a:t>Cause:  </a:t>
            </a:r>
            <a:r>
              <a:rPr lang="en-US" sz="1000" dirty="0">
                <a:solidFill>
                  <a:srgbClr val="1A1A1A"/>
                </a:solidFill>
                <a:latin typeface="Calibri" pitchFamily="34" charset="0"/>
                <a:ea typeface="Calibri" pitchFamily="34" charset="-122"/>
                <a:cs typeface="Calibri" pitchFamily="34" charset="-120"/>
              </a:rPr>
              <a:t>Repeated sed/heredoc edits corrupted snmpd.conf
</a:t>
            </a:r>
            <a:r>
              <a:rPr lang="en-US" sz="1000" b="1" dirty="0">
                <a:solidFill>
                  <a:srgbClr val="2E7D5B"/>
                </a:solidFill>
                <a:latin typeface="Calibri" pitchFamily="34" charset="0"/>
                <a:ea typeface="Calibri" pitchFamily="34" charset="-122"/>
                <a:cs typeface="Calibri" pitchFamily="34" charset="-120"/>
              </a:rPr>
              <a:t>Fix:  </a:t>
            </a:r>
            <a:r>
              <a:rPr lang="en-US" sz="1000" dirty="0">
                <a:solidFill>
                  <a:srgbClr val="1A1A1A"/>
                </a:solidFill>
                <a:latin typeface="Calibri" pitchFamily="34" charset="0"/>
                <a:ea typeface="Calibri" pitchFamily="34" charset="-122"/>
                <a:cs typeface="Calibri" pitchFamily="34" charset="-120"/>
              </a:rPr>
              <a:t>Retyped a minimal, verified-clean config directly</a:t>
            </a:r>
            <a:endParaRPr lang="en-US" sz="1000" dirty="0"/>
          </a:p>
        </p:txBody>
      </p:sp>
      <p:sp>
        <p:nvSpPr>
          <p:cNvPr id="19" name="Shape 17"/>
          <p:cNvSpPr/>
          <p:nvPr/>
        </p:nvSpPr>
        <p:spPr>
          <a:xfrm>
            <a:off x="4617720" y="5029200"/>
            <a:ext cx="3291840" cy="0"/>
          </a:xfrm>
          <a:prstGeom prst="line">
            <a:avLst/>
          </a:prstGeom>
          <a:noFill/>
          <a:ln w="9525">
            <a:solidFill>
              <a:srgbClr val="E1E4E6"/>
            </a:solidFill>
            <a:prstDash val="solid"/>
          </a:ln>
        </p:spPr>
        <p:txBody>
          <a:bodyPr/>
          <a:lstStyle/>
          <a:p>
            <a:endParaRPr lang="en-IN"/>
          </a:p>
        </p:txBody>
      </p:sp>
      <p:sp>
        <p:nvSpPr>
          <p:cNvPr id="20" name="Text 18"/>
          <p:cNvSpPr txBox="1"/>
          <p:nvPr/>
        </p:nvSpPr>
        <p:spPr>
          <a:xfrm>
            <a:off x="4617720" y="5166360"/>
            <a:ext cx="3291840" cy="274320"/>
          </a:xfrm>
          <a:prstGeom prst="rect">
            <a:avLst/>
          </a:prstGeom>
          <a:noFill/>
          <a:ln/>
        </p:spPr>
        <p:txBody>
          <a:bodyPr wrap="square" lIns="0" tIns="0" rIns="0" bIns="0" rtlCol="0" anchor="ctr"/>
          <a:lstStyle/>
          <a:p>
            <a:pPr marL="0" indent="0">
              <a:buNone/>
            </a:pPr>
            <a:r>
              <a:rPr lang="en-US" sz="950" i="1" dirty="0">
                <a:solidFill>
                  <a:srgbClr val="5A6169"/>
                </a:solidFill>
                <a:latin typeface="Calibri" pitchFamily="34" charset="0"/>
                <a:ea typeface="Calibri" pitchFamily="34" charset="-122"/>
                <a:cs typeface="Calibri" pitchFamily="34" charset="-120"/>
              </a:rPr>
              <a:t>More setup </a:t>
            </a:r>
            <a:r>
              <a:rPr lang="en-US" sz="950" i="1" dirty="0" err="1">
                <a:solidFill>
                  <a:srgbClr val="5A6169"/>
                </a:solidFill>
                <a:latin typeface="Calibri" pitchFamily="34" charset="0"/>
                <a:ea typeface="Calibri" pitchFamily="34" charset="-122"/>
                <a:cs typeface="Calibri" pitchFamily="34" charset="-120"/>
              </a:rPr>
              <a:t>challees</a:t>
            </a:r>
            <a:r>
              <a:rPr lang="en-US" sz="950" i="1" dirty="0">
                <a:solidFill>
                  <a:srgbClr val="5A6169"/>
                </a:solidFill>
                <a:latin typeface="Calibri" pitchFamily="34" charset="0"/>
                <a:ea typeface="Calibri" pitchFamily="34" charset="-122"/>
                <a:cs typeface="Calibri" pitchFamily="34" charset="-120"/>
              </a:rPr>
              <a:t> → Slide 5</a:t>
            </a:r>
            <a:endParaRPr lang="en-US" sz="950" dirty="0"/>
          </a:p>
        </p:txBody>
      </p:sp>
      <p:sp>
        <p:nvSpPr>
          <p:cNvPr id="21" name="Shape 19"/>
          <p:cNvSpPr/>
          <p:nvPr/>
        </p:nvSpPr>
        <p:spPr>
          <a:xfrm>
            <a:off x="8321040" y="1371600"/>
            <a:ext cx="3319272" cy="4892040"/>
          </a:xfrm>
          <a:prstGeom prst="rect">
            <a:avLst/>
          </a:prstGeom>
          <a:solidFill>
            <a:srgbClr val="0E6E8C"/>
          </a:solidFill>
          <a:ln/>
        </p:spPr>
        <p:txBody>
          <a:bodyPr/>
          <a:lstStyle/>
          <a:p>
            <a:endParaRPr lang="en-IN"/>
          </a:p>
        </p:txBody>
      </p:sp>
      <p:sp>
        <p:nvSpPr>
          <p:cNvPr id="22" name="Text 20"/>
          <p:cNvSpPr txBox="1"/>
          <p:nvPr/>
        </p:nvSpPr>
        <p:spPr>
          <a:xfrm>
            <a:off x="8503920" y="1508760"/>
            <a:ext cx="2953512" cy="274320"/>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C. EVALUATION / RESULTS</a:t>
            </a:r>
            <a:endParaRPr lang="en-US" sz="1150" dirty="0"/>
          </a:p>
        </p:txBody>
      </p:sp>
      <p:sp>
        <p:nvSpPr>
          <p:cNvPr id="23" name="Text 21"/>
          <p:cNvSpPr txBox="1"/>
          <p:nvPr/>
        </p:nvSpPr>
        <p:spPr>
          <a:xfrm>
            <a:off x="8503920" y="1874520"/>
            <a:ext cx="2953512" cy="502920"/>
          </a:xfrm>
          <a:prstGeom prst="rect">
            <a:avLst/>
          </a:prstGeom>
          <a:noFill/>
          <a:ln/>
        </p:spPr>
        <p:txBody>
          <a:bodyPr wrap="square" lIns="0" tIns="0" rIns="0" bIns="0"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112 / 112</a:t>
            </a:r>
            <a:endParaRPr lang="en-US" sz="3400" dirty="0"/>
          </a:p>
        </p:txBody>
      </p:sp>
      <p:sp>
        <p:nvSpPr>
          <p:cNvPr id="24" name="Text 22"/>
          <p:cNvSpPr txBox="1"/>
          <p:nvPr/>
        </p:nvSpPr>
        <p:spPr>
          <a:xfrm>
            <a:off x="8503920" y="2395728"/>
            <a:ext cx="2953512" cy="685800"/>
          </a:xfrm>
          <a:prstGeom prst="rect">
            <a:avLst/>
          </a:prstGeom>
          <a:noFill/>
          <a:ln/>
        </p:spPr>
        <p:txBody>
          <a:bodyPr wrap="square" lIns="0" tIns="0" rIns="0" bIns="0" rtlCol="0" anchor="ctr"/>
          <a:lstStyle/>
          <a:p>
            <a:pPr marL="0" indent="0">
              <a:lnSpc>
                <a:spcPct val="110000"/>
              </a:lnSpc>
              <a:buNone/>
            </a:pPr>
            <a:r>
              <a:rPr lang="en-US" sz="950" dirty="0">
                <a:solidFill>
                  <a:srgbClr val="FFFFFF"/>
                </a:solidFill>
                <a:latin typeface="Calibri" pitchFamily="34" charset="0"/>
                <a:ea typeface="Calibri" pitchFamily="34" charset="-122"/>
                <a:cs typeface="Calibri" pitchFamily="34" charset="-120"/>
              </a:rPr>
              <a:t>automated tests passed — 0 failed, 0 skipped</a:t>
            </a:r>
            <a:endParaRPr lang="en-US" sz="950" dirty="0"/>
          </a:p>
          <a:p>
            <a:pPr marL="0" indent="0">
              <a:lnSpc>
                <a:spcPct val="110000"/>
              </a:lnSpc>
              <a:buNone/>
            </a:pPr>
            <a:r>
              <a:rPr lang="en-US" sz="950" dirty="0">
                <a:solidFill>
                  <a:srgbClr val="FFFFFF"/>
                </a:solidFill>
                <a:latin typeface="Calibri" pitchFamily="34" charset="0"/>
                <a:ea typeface="Calibri" pitchFamily="34" charset="-122"/>
                <a:cs typeface="Calibri" pitchFamily="34" charset="-120"/>
              </a:rPr>
              <a:t>(10 areas: SNMP, bandwidth engine, ICMP, simulator, gRPC, DB/ingestion, alert engine, REST API, integration)</a:t>
            </a:r>
            <a:endParaRPr lang="en-US" sz="950" dirty="0"/>
          </a:p>
        </p:txBody>
      </p:sp>
      <p:sp>
        <p:nvSpPr>
          <p:cNvPr id="25" name="Text 23"/>
          <p:cNvSpPr txBox="1"/>
          <p:nvPr/>
        </p:nvSpPr>
        <p:spPr>
          <a:xfrm>
            <a:off x="8503920" y="3154680"/>
            <a:ext cx="2953512" cy="502920"/>
          </a:xfrm>
          <a:prstGeom prst="rect">
            <a:avLst/>
          </a:prstGeom>
          <a:noFill/>
          <a:ln/>
        </p:spPr>
        <p:txBody>
          <a:bodyPr wrap="square" lIns="0" tIns="0" rIns="0" bIns="0"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8 / 8</a:t>
            </a:r>
            <a:endParaRPr lang="en-US" sz="3400" dirty="0"/>
          </a:p>
        </p:txBody>
      </p:sp>
      <p:sp>
        <p:nvSpPr>
          <p:cNvPr id="26" name="Text 24"/>
          <p:cNvSpPr txBox="1"/>
          <p:nvPr/>
        </p:nvSpPr>
        <p:spPr>
          <a:xfrm>
            <a:off x="8503920" y="3675888"/>
            <a:ext cx="2953512" cy="777240"/>
          </a:xfrm>
          <a:prstGeom prst="rect">
            <a:avLst/>
          </a:prstGeom>
          <a:noFill/>
          <a:ln/>
        </p:spPr>
        <p:txBody>
          <a:bodyPr wrap="square" lIns="0" tIns="0" rIns="0" bIns="0" rtlCol="0" anchor="ctr"/>
          <a:lstStyle/>
          <a:p>
            <a:pPr marL="0" indent="0">
              <a:lnSpc>
                <a:spcPct val="110000"/>
              </a:lnSpc>
              <a:buNone/>
            </a:pPr>
            <a:r>
              <a:rPr lang="en-US" sz="950" dirty="0">
                <a:solidFill>
                  <a:srgbClr val="FFFFFF"/>
                </a:solidFill>
                <a:latin typeface="Calibri" pitchFamily="34" charset="0"/>
                <a:ea typeface="Calibri" pitchFamily="34" charset="-122"/>
                <a:cs typeface="Calibri" pitchFamily="34" charset="-120"/>
              </a:rPr>
              <a:t>live demonstration scenarios PASS (TC-02–TC-09): bandwidth/latency/packet-loss breach, alert recovery, device down (CRITICAL), device recovery, dedup, backend resilience</a:t>
            </a:r>
            <a:endParaRPr lang="en-US" sz="950" dirty="0"/>
          </a:p>
        </p:txBody>
      </p:sp>
      <p:pic>
        <p:nvPicPr>
          <p:cNvPr id="27" name="Image 0" descr="extracted/tc-001.png"/>
          <p:cNvPicPr>
            <a:picLocks noChangeAspect="1"/>
          </p:cNvPicPr>
          <p:nvPr/>
        </p:nvPicPr>
        <p:blipFill>
          <a:blip r:embed="rId3"/>
          <a:srcRect/>
          <a:stretch/>
        </p:blipFill>
        <p:spPr>
          <a:xfrm>
            <a:off x="8503920" y="4553712"/>
            <a:ext cx="2953512" cy="1325880"/>
          </a:xfrm>
          <a:prstGeom prst="rect">
            <a:avLst/>
          </a:prstGeom>
        </p:spPr>
      </p:pic>
      <p:sp>
        <p:nvSpPr>
          <p:cNvPr id="28" name="Text 25"/>
          <p:cNvSpPr txBox="1"/>
          <p:nvPr/>
        </p:nvSpPr>
        <p:spPr>
          <a:xfrm>
            <a:off x="8503920" y="5907024"/>
            <a:ext cx="2953512" cy="329184"/>
          </a:xfrm>
          <a:prstGeom prst="rect">
            <a:avLst/>
          </a:prstGeom>
          <a:noFill/>
          <a:ln/>
        </p:spPr>
        <p:txBody>
          <a:bodyPr wrap="square" lIns="0" tIns="0" rIns="0" bIns="0" rtlCol="0" anchor="ctr"/>
          <a:lstStyle/>
          <a:p>
            <a:pPr marL="0" indent="0">
              <a:lnSpc>
                <a:spcPct val="100000"/>
              </a:lnSpc>
              <a:buNone/>
            </a:pPr>
            <a:r>
              <a:rPr lang="en-US" sz="850" i="1" dirty="0">
                <a:solidFill>
                  <a:srgbClr val="FFFFFF"/>
                </a:solidFill>
                <a:latin typeface="Calibri" pitchFamily="34" charset="0"/>
                <a:ea typeface="Calibri" pitchFamily="34" charset="-122"/>
                <a:cs typeface="Calibri" pitchFamily="34" charset="-120"/>
              </a:rPr>
              <a:t>Evidence — TC-02 bandwidth/utilization spike (Grafana)</a:t>
            </a:r>
            <a:endParaRPr lang="en-US" sz="850" dirty="0"/>
          </a:p>
        </p:txBody>
      </p:sp>
      <p:sp>
        <p:nvSpPr>
          <p:cNvPr id="29" name="Text 26"/>
          <p:cNvSpPr txBox="1"/>
          <p:nvPr/>
        </p:nvSpPr>
        <p:spPr>
          <a:xfrm>
            <a:off x="548640" y="6446520"/>
            <a:ext cx="7315200" cy="320040"/>
          </a:xfrm>
          <a:prstGeom prst="rect">
            <a:avLst/>
          </a:prstGeom>
          <a:noFill/>
          <a:ln/>
        </p:spPr>
        <p:txBody>
          <a:bodyPr wrap="square" lIns="0" tIns="0" rIns="0" bIns="0" rtlCol="0" anchor="ctr"/>
          <a:lstStyle/>
          <a:p>
            <a:pPr marL="0" indent="0">
              <a:buNone/>
            </a:pPr>
            <a:r>
              <a:rPr lang="en-US" sz="1000" dirty="0">
                <a:solidFill>
                  <a:srgbClr val="5A6169"/>
                </a:solidFill>
                <a:latin typeface="Calibri" pitchFamily="34" charset="0"/>
                <a:ea typeface="Calibri" pitchFamily="34" charset="-122"/>
                <a:cs typeface="Calibri" pitchFamily="34" charset="-120"/>
              </a:rPr>
              <a:t>Network Telemetry &amp; Real-Time Network Performance Monitoring System</a:t>
            </a:r>
            <a:endParaRPr lang="en-US" sz="1000" dirty="0"/>
          </a:p>
        </p:txBody>
      </p:sp>
      <p:sp>
        <p:nvSpPr>
          <p:cNvPr id="30" name="Text 27"/>
          <p:cNvSpPr txBox="1"/>
          <p:nvPr/>
        </p:nvSpPr>
        <p:spPr>
          <a:xfrm>
            <a:off x="11475720" y="6446520"/>
            <a:ext cx="640080" cy="320040"/>
          </a:xfrm>
          <a:prstGeom prst="rect">
            <a:avLst/>
          </a:prstGeom>
          <a:noFill/>
          <a:ln/>
        </p:spPr>
        <p:txBody>
          <a:bodyPr wrap="square" lIns="0" tIns="0" rIns="0" bIns="0" rtlCol="0" anchor="ctr"/>
          <a:lstStyle/>
          <a:p>
            <a:pPr marL="0" indent="0" algn="r">
              <a:buNone/>
            </a:pPr>
            <a:r>
              <a:rPr lang="en-US" sz="1100" dirty="0">
                <a:solidFill>
                  <a:srgbClr val="5A6169"/>
                </a:solidFill>
                <a:latin typeface="Calibri" pitchFamily="34" charset="0"/>
                <a:ea typeface="Calibri" pitchFamily="34" charset="-122"/>
                <a:cs typeface="Calibri" pitchFamily="34" charset="-120"/>
              </a:rPr>
              <a:t>03</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8" name="Text 0">
            <a:extLst>
              <a:ext uri="{FF2B5EF4-FFF2-40B4-BE49-F238E27FC236}">
                <a16:creationId xmlns:a16="http://schemas.microsoft.com/office/drawing/2014/main" id="{678FBF27-D0A5-A776-0B2D-BADE54B1FD43}"/>
              </a:ext>
            </a:extLst>
          </p:cNvPr>
          <p:cNvSpPr txBox="1"/>
          <p:nvPr/>
        </p:nvSpPr>
        <p:spPr>
          <a:xfrm>
            <a:off x="548640" y="292608"/>
            <a:ext cx="8229600" cy="274320"/>
          </a:xfrm>
          <a:prstGeom prst="rect">
            <a:avLst/>
          </a:prstGeom>
          <a:noFill/>
          <a:ln/>
        </p:spPr>
        <p:txBody>
          <a:bodyPr wrap="square" lIns="0" tIns="0" rIns="0" bIns="0" rtlCol="0" anchor="ctr"/>
          <a:lstStyle/>
          <a:p>
            <a:pPr marL="0" indent="0">
              <a:buNone/>
            </a:pPr>
            <a:r>
              <a:rPr lang="en-US" sz="1200" b="1" kern="0" spc="200" dirty="0">
                <a:solidFill>
                  <a:srgbClr val="0E6E8C"/>
                </a:solidFill>
                <a:latin typeface="Calibri" pitchFamily="34" charset="0"/>
                <a:ea typeface="Calibri" pitchFamily="34" charset="-122"/>
                <a:cs typeface="Calibri" pitchFamily="34" charset="-120"/>
              </a:rPr>
              <a:t>04 — IS THE SYSTEM DEPENDABLE?</a:t>
            </a:r>
            <a:endParaRPr lang="en-US" sz="1200" dirty="0"/>
          </a:p>
        </p:txBody>
      </p:sp>
      <p:sp>
        <p:nvSpPr>
          <p:cNvPr id="10" name="Text 1">
            <a:extLst>
              <a:ext uri="{FF2B5EF4-FFF2-40B4-BE49-F238E27FC236}">
                <a16:creationId xmlns:a16="http://schemas.microsoft.com/office/drawing/2014/main" id="{316E40F3-9216-D01B-A3DE-885E7382A46D}"/>
              </a:ext>
            </a:extLst>
          </p:cNvPr>
          <p:cNvSpPr txBox="1"/>
          <p:nvPr/>
        </p:nvSpPr>
        <p:spPr>
          <a:xfrm>
            <a:off x="548640" y="566928"/>
            <a:ext cx="10515600" cy="640080"/>
          </a:xfrm>
          <a:prstGeom prst="rect">
            <a:avLst/>
          </a:prstGeom>
          <a:noFill/>
          <a:ln/>
        </p:spPr>
        <p:txBody>
          <a:bodyPr wrap="square" lIns="0" tIns="0" rIns="0" bIns="0" rtlCol="0" anchor="ctr"/>
          <a:lstStyle/>
          <a:p>
            <a:pPr marL="0" indent="0">
              <a:buNone/>
            </a:pPr>
            <a:r>
              <a:rPr lang="en-US" sz="3000" b="1" dirty="0">
                <a:solidFill>
                  <a:srgbClr val="1A1A1A"/>
                </a:solidFill>
                <a:latin typeface="Cambria" pitchFamily="34" charset="0"/>
                <a:ea typeface="Cambria" pitchFamily="34" charset="-122"/>
                <a:cs typeface="Cambria" pitchFamily="34" charset="-120"/>
              </a:rPr>
              <a:t>Non-Functional Validation</a:t>
            </a:r>
            <a:endParaRPr lang="en-US" sz="3000" dirty="0"/>
          </a:p>
        </p:txBody>
      </p:sp>
      <p:sp>
        <p:nvSpPr>
          <p:cNvPr id="12" name="Shape 2">
            <a:extLst>
              <a:ext uri="{FF2B5EF4-FFF2-40B4-BE49-F238E27FC236}">
                <a16:creationId xmlns:a16="http://schemas.microsoft.com/office/drawing/2014/main" id="{732E01B4-3158-F8C4-5A9E-FE237CC9BB52}"/>
              </a:ext>
            </a:extLst>
          </p:cNvPr>
          <p:cNvSpPr/>
          <p:nvPr/>
        </p:nvSpPr>
        <p:spPr>
          <a:xfrm>
            <a:off x="548640" y="1417320"/>
            <a:ext cx="3544824" cy="2331720"/>
          </a:xfrm>
          <a:prstGeom prst="roundRect">
            <a:avLst>
              <a:gd name="adj" fmla="val 2745"/>
            </a:avLst>
          </a:prstGeom>
          <a:solidFill>
            <a:srgbClr val="13293D"/>
          </a:solidFill>
          <a:ln/>
        </p:spPr>
        <p:txBody>
          <a:bodyPr/>
          <a:lstStyle/>
          <a:p>
            <a:endParaRPr lang="en-IN"/>
          </a:p>
        </p:txBody>
      </p:sp>
      <p:sp>
        <p:nvSpPr>
          <p:cNvPr id="14" name="Shape 3">
            <a:extLst>
              <a:ext uri="{FF2B5EF4-FFF2-40B4-BE49-F238E27FC236}">
                <a16:creationId xmlns:a16="http://schemas.microsoft.com/office/drawing/2014/main" id="{3DCFFA9C-C22D-B559-1334-E0FA6FA36A3D}"/>
              </a:ext>
            </a:extLst>
          </p:cNvPr>
          <p:cNvSpPr/>
          <p:nvPr/>
        </p:nvSpPr>
        <p:spPr>
          <a:xfrm>
            <a:off x="3745992" y="1618488"/>
            <a:ext cx="146304" cy="146304"/>
          </a:xfrm>
          <a:prstGeom prst="ellipse">
            <a:avLst/>
          </a:prstGeom>
          <a:solidFill>
            <a:srgbClr val="2E7D5B"/>
          </a:solidFill>
          <a:ln/>
        </p:spPr>
        <p:txBody>
          <a:bodyPr/>
          <a:lstStyle/>
          <a:p>
            <a:endParaRPr lang="en-IN"/>
          </a:p>
        </p:txBody>
      </p:sp>
      <p:sp>
        <p:nvSpPr>
          <p:cNvPr id="16" name="Text 4">
            <a:extLst>
              <a:ext uri="{FF2B5EF4-FFF2-40B4-BE49-F238E27FC236}">
                <a16:creationId xmlns:a16="http://schemas.microsoft.com/office/drawing/2014/main" id="{C501D9BD-4203-20B5-ADA0-D70348C27A8F}"/>
              </a:ext>
            </a:extLst>
          </p:cNvPr>
          <p:cNvSpPr txBox="1"/>
          <p:nvPr/>
        </p:nvSpPr>
        <p:spPr>
          <a:xfrm>
            <a:off x="777240" y="1581912"/>
            <a:ext cx="2904744" cy="365760"/>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Reliability</a:t>
            </a:r>
            <a:endParaRPr lang="en-US" sz="1450" dirty="0"/>
          </a:p>
        </p:txBody>
      </p:sp>
      <p:sp>
        <p:nvSpPr>
          <p:cNvPr id="18" name="Shape 5">
            <a:extLst>
              <a:ext uri="{FF2B5EF4-FFF2-40B4-BE49-F238E27FC236}">
                <a16:creationId xmlns:a16="http://schemas.microsoft.com/office/drawing/2014/main" id="{C55D94BC-FA41-C5B0-D935-41FF420BD613}"/>
              </a:ext>
            </a:extLst>
          </p:cNvPr>
          <p:cNvSpPr/>
          <p:nvPr/>
        </p:nvSpPr>
        <p:spPr>
          <a:xfrm>
            <a:off x="777240" y="1984248"/>
            <a:ext cx="3087624" cy="0"/>
          </a:xfrm>
          <a:prstGeom prst="line">
            <a:avLst/>
          </a:prstGeom>
          <a:noFill/>
          <a:ln w="9525">
            <a:solidFill>
              <a:srgbClr val="2C4A63"/>
            </a:solidFill>
            <a:prstDash val="solid"/>
          </a:ln>
        </p:spPr>
        <p:txBody>
          <a:bodyPr/>
          <a:lstStyle/>
          <a:p>
            <a:endParaRPr lang="en-IN"/>
          </a:p>
        </p:txBody>
      </p:sp>
      <p:sp>
        <p:nvSpPr>
          <p:cNvPr id="20" name="Text 6">
            <a:extLst>
              <a:ext uri="{FF2B5EF4-FFF2-40B4-BE49-F238E27FC236}">
                <a16:creationId xmlns:a16="http://schemas.microsoft.com/office/drawing/2014/main" id="{738242EF-2C17-3DDD-6B5A-5606178E5570}"/>
              </a:ext>
            </a:extLst>
          </p:cNvPr>
          <p:cNvSpPr txBox="1"/>
          <p:nvPr/>
        </p:nvSpPr>
        <p:spPr>
          <a:xfrm>
            <a:off x="777240" y="2075688"/>
            <a:ext cx="3087624" cy="201168"/>
          </a:xfrm>
          <a:prstGeom prst="rect">
            <a:avLst/>
          </a:prstGeom>
          <a:noFill/>
          <a:ln/>
        </p:spPr>
        <p:txBody>
          <a:bodyPr wrap="square" lIns="0" tIns="0" rIns="0" bIns="0" rtlCol="0" anchor="ctr"/>
          <a:lstStyle/>
          <a:p>
            <a:pPr marL="0" indent="0">
              <a:buNone/>
            </a:pPr>
            <a:r>
              <a:rPr lang="en-US" sz="800" b="1" kern="0" spc="100" dirty="0">
                <a:solidFill>
                  <a:srgbClr val="7FA8BA"/>
                </a:solidFill>
                <a:latin typeface="Calibri" pitchFamily="34" charset="0"/>
                <a:ea typeface="Calibri" pitchFamily="34" charset="-122"/>
                <a:cs typeface="Calibri" pitchFamily="34" charset="-120"/>
              </a:rPr>
              <a:t>TESTED</a:t>
            </a:r>
            <a:endParaRPr lang="en-US" sz="800" dirty="0"/>
          </a:p>
        </p:txBody>
      </p:sp>
      <p:sp>
        <p:nvSpPr>
          <p:cNvPr id="22" name="Text 7">
            <a:extLst>
              <a:ext uri="{FF2B5EF4-FFF2-40B4-BE49-F238E27FC236}">
                <a16:creationId xmlns:a16="http://schemas.microsoft.com/office/drawing/2014/main" id="{601AC487-167A-D0CD-C784-8F8D3732C622}"/>
              </a:ext>
            </a:extLst>
          </p:cNvPr>
          <p:cNvSpPr txBox="1"/>
          <p:nvPr/>
        </p:nvSpPr>
        <p:spPr>
          <a:xfrm>
            <a:off x="777240" y="2267712"/>
            <a:ext cx="3087624" cy="502920"/>
          </a:xfrm>
          <a:prstGeom prst="rect">
            <a:avLst/>
          </a:prstGeom>
          <a:noFill/>
          <a:ln/>
        </p:spPr>
        <p:txBody>
          <a:bodyPr wrap="square" lIns="0" tIns="0" rIns="0" bIns="0" rtlCol="0" anchor="ctr"/>
          <a:lstStyle/>
          <a:p>
            <a:pPr marL="0" indent="0">
              <a:lnSpc>
                <a:spcPct val="105000"/>
              </a:lnSpc>
              <a:buNone/>
            </a:pPr>
            <a:r>
              <a:rPr lang="en-US" sz="950" dirty="0">
                <a:solidFill>
                  <a:srgbClr val="E6EDF0"/>
                </a:solidFill>
                <a:latin typeface="Calibri" pitchFamily="34" charset="0"/>
                <a:ea typeface="Calibri" pitchFamily="34" charset="-122"/>
                <a:cs typeface="Calibri" pitchFamily="34" charset="-120"/>
              </a:rPr>
              <a:t>Backend stopped mid-operation</a:t>
            </a:r>
            <a:endParaRPr lang="en-US" sz="950" dirty="0"/>
          </a:p>
          <a:p>
            <a:pPr marL="0" indent="0">
              <a:lnSpc>
                <a:spcPct val="105000"/>
              </a:lnSpc>
              <a:buNone/>
            </a:pPr>
            <a:r>
              <a:rPr lang="en-US" sz="950" dirty="0">
                <a:solidFill>
                  <a:srgbClr val="E6EDF0"/>
                </a:solidFill>
                <a:latin typeface="Calibri" pitchFamily="34" charset="0"/>
                <a:ea typeface="Calibri" pitchFamily="34" charset="-122"/>
                <a:cs typeface="Calibri" pitchFamily="34" charset="-120"/>
              </a:rPr>
              <a:t>(docker compose stop backend)</a:t>
            </a:r>
            <a:endParaRPr lang="en-US" sz="950" dirty="0"/>
          </a:p>
        </p:txBody>
      </p:sp>
      <p:sp>
        <p:nvSpPr>
          <p:cNvPr id="24" name="Text 8">
            <a:extLst>
              <a:ext uri="{FF2B5EF4-FFF2-40B4-BE49-F238E27FC236}">
                <a16:creationId xmlns:a16="http://schemas.microsoft.com/office/drawing/2014/main" id="{05FF9135-C1C2-276C-9D58-9D4835759C95}"/>
              </a:ext>
            </a:extLst>
          </p:cNvPr>
          <p:cNvSpPr txBox="1"/>
          <p:nvPr/>
        </p:nvSpPr>
        <p:spPr>
          <a:xfrm>
            <a:off x="777240" y="3063240"/>
            <a:ext cx="3087624" cy="201168"/>
          </a:xfrm>
          <a:prstGeom prst="rect">
            <a:avLst/>
          </a:prstGeom>
          <a:noFill/>
          <a:ln/>
        </p:spPr>
        <p:txBody>
          <a:bodyPr wrap="square" lIns="0" tIns="0" rIns="0" bIns="0" rtlCol="0" anchor="ctr"/>
          <a:lstStyle/>
          <a:p>
            <a:pPr marL="0" indent="0">
              <a:buNone/>
            </a:pPr>
            <a:r>
              <a:rPr lang="en-US" sz="800" b="1" kern="0" spc="100" dirty="0">
                <a:solidFill>
                  <a:srgbClr val="7FA8BA"/>
                </a:solidFill>
                <a:latin typeface="Calibri" pitchFamily="34" charset="0"/>
                <a:ea typeface="Calibri" pitchFamily="34" charset="-122"/>
                <a:cs typeface="Calibri" pitchFamily="34" charset="-120"/>
              </a:rPr>
              <a:t>RESULT</a:t>
            </a:r>
            <a:endParaRPr lang="en-US" sz="800" dirty="0"/>
          </a:p>
        </p:txBody>
      </p:sp>
      <p:sp>
        <p:nvSpPr>
          <p:cNvPr id="26" name="Text 9">
            <a:extLst>
              <a:ext uri="{FF2B5EF4-FFF2-40B4-BE49-F238E27FC236}">
                <a16:creationId xmlns:a16="http://schemas.microsoft.com/office/drawing/2014/main" id="{1B6EE800-B541-30C1-1C25-C4AEC08EF087}"/>
              </a:ext>
            </a:extLst>
          </p:cNvPr>
          <p:cNvSpPr txBox="1"/>
          <p:nvPr/>
        </p:nvSpPr>
        <p:spPr>
          <a:xfrm>
            <a:off x="777240" y="3246120"/>
            <a:ext cx="2538984" cy="457200"/>
          </a:xfrm>
          <a:prstGeom prst="rect">
            <a:avLst/>
          </a:prstGeom>
          <a:noFill/>
          <a:ln/>
        </p:spPr>
        <p:txBody>
          <a:bodyPr wrap="square" lIns="0" tIns="0" rIns="0" bIns="0" rtlCol="0" anchor="ctr"/>
          <a:lstStyle/>
          <a:p>
            <a:pPr marL="0" indent="0">
              <a:lnSpc>
                <a:spcPct val="105000"/>
              </a:lnSpc>
              <a:buNone/>
            </a:pPr>
            <a:r>
              <a:rPr lang="en-US" sz="950" b="1" dirty="0">
                <a:solidFill>
                  <a:srgbClr val="FFFFFF"/>
                </a:solidFill>
                <a:latin typeface="Calibri" pitchFamily="34" charset="0"/>
                <a:ea typeface="Calibri" pitchFamily="34" charset="-122"/>
                <a:cs typeface="Calibri" pitchFamily="34" charset="-120"/>
              </a:rPr>
              <a:t>Retried with backoff, dropped batch cleanly, resumed on restart</a:t>
            </a:r>
            <a:endParaRPr lang="en-US" sz="950" dirty="0"/>
          </a:p>
        </p:txBody>
      </p:sp>
      <p:sp>
        <p:nvSpPr>
          <p:cNvPr id="28" name="Text 10">
            <a:extLst>
              <a:ext uri="{FF2B5EF4-FFF2-40B4-BE49-F238E27FC236}">
                <a16:creationId xmlns:a16="http://schemas.microsoft.com/office/drawing/2014/main" id="{355D1675-24A4-4209-4F44-E99D0AFCE7D8}"/>
              </a:ext>
            </a:extLst>
          </p:cNvPr>
          <p:cNvSpPr txBox="1"/>
          <p:nvPr/>
        </p:nvSpPr>
        <p:spPr>
          <a:xfrm>
            <a:off x="3316224" y="3364992"/>
            <a:ext cx="594360" cy="274320"/>
          </a:xfrm>
          <a:prstGeom prst="rect">
            <a:avLst/>
          </a:prstGeom>
          <a:noFill/>
          <a:ln/>
        </p:spPr>
        <p:txBody>
          <a:bodyPr wrap="square" lIns="0" tIns="0" rIns="0" bIns="0" rtlCol="0" anchor="ctr"/>
          <a:lstStyle/>
          <a:p>
            <a:pPr marL="0" indent="0" algn="r">
              <a:buNone/>
            </a:pPr>
            <a:r>
              <a:rPr lang="en-US" sz="1000" b="1" dirty="0">
                <a:solidFill>
                  <a:srgbClr val="2E7D5B"/>
                </a:solidFill>
                <a:latin typeface="Calibri" pitchFamily="34" charset="0"/>
                <a:ea typeface="Calibri" pitchFamily="34" charset="-122"/>
                <a:cs typeface="Calibri" pitchFamily="34" charset="-120"/>
              </a:rPr>
              <a:t>PASS</a:t>
            </a:r>
            <a:endParaRPr lang="en-US" sz="1000" dirty="0"/>
          </a:p>
        </p:txBody>
      </p:sp>
      <p:sp>
        <p:nvSpPr>
          <p:cNvPr id="30" name="Shape 11">
            <a:extLst>
              <a:ext uri="{FF2B5EF4-FFF2-40B4-BE49-F238E27FC236}">
                <a16:creationId xmlns:a16="http://schemas.microsoft.com/office/drawing/2014/main" id="{37E82BE3-AF32-5D73-AB36-C7D76843EB01}"/>
              </a:ext>
            </a:extLst>
          </p:cNvPr>
          <p:cNvSpPr/>
          <p:nvPr/>
        </p:nvSpPr>
        <p:spPr>
          <a:xfrm>
            <a:off x="4322064" y="1417320"/>
            <a:ext cx="3544824" cy="2331720"/>
          </a:xfrm>
          <a:prstGeom prst="roundRect">
            <a:avLst>
              <a:gd name="adj" fmla="val 2745"/>
            </a:avLst>
          </a:prstGeom>
          <a:solidFill>
            <a:srgbClr val="13293D"/>
          </a:solidFill>
          <a:ln/>
        </p:spPr>
        <p:txBody>
          <a:bodyPr/>
          <a:lstStyle/>
          <a:p>
            <a:endParaRPr lang="en-IN"/>
          </a:p>
        </p:txBody>
      </p:sp>
      <p:sp>
        <p:nvSpPr>
          <p:cNvPr id="32" name="Shape 12">
            <a:extLst>
              <a:ext uri="{FF2B5EF4-FFF2-40B4-BE49-F238E27FC236}">
                <a16:creationId xmlns:a16="http://schemas.microsoft.com/office/drawing/2014/main" id="{C34AADBF-F5CF-E2BB-C7D5-4E212FBFBE07}"/>
              </a:ext>
            </a:extLst>
          </p:cNvPr>
          <p:cNvSpPr/>
          <p:nvPr/>
        </p:nvSpPr>
        <p:spPr>
          <a:xfrm>
            <a:off x="7519416" y="1618488"/>
            <a:ext cx="146304" cy="146304"/>
          </a:xfrm>
          <a:prstGeom prst="ellipse">
            <a:avLst/>
          </a:prstGeom>
          <a:solidFill>
            <a:srgbClr val="2E7D5B"/>
          </a:solidFill>
          <a:ln/>
        </p:spPr>
        <p:txBody>
          <a:bodyPr/>
          <a:lstStyle/>
          <a:p>
            <a:endParaRPr lang="en-IN"/>
          </a:p>
        </p:txBody>
      </p:sp>
      <p:sp>
        <p:nvSpPr>
          <p:cNvPr id="34" name="Text 13">
            <a:extLst>
              <a:ext uri="{FF2B5EF4-FFF2-40B4-BE49-F238E27FC236}">
                <a16:creationId xmlns:a16="http://schemas.microsoft.com/office/drawing/2014/main" id="{D6B2B238-A09C-6A97-D39B-20B41CD9A4B9}"/>
              </a:ext>
            </a:extLst>
          </p:cNvPr>
          <p:cNvSpPr txBox="1"/>
          <p:nvPr/>
        </p:nvSpPr>
        <p:spPr>
          <a:xfrm>
            <a:off x="4550664" y="1581912"/>
            <a:ext cx="2904744" cy="365760"/>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Fault Tolerance</a:t>
            </a:r>
            <a:endParaRPr lang="en-US" sz="1450" dirty="0"/>
          </a:p>
        </p:txBody>
      </p:sp>
      <p:sp>
        <p:nvSpPr>
          <p:cNvPr id="36" name="Shape 14">
            <a:extLst>
              <a:ext uri="{FF2B5EF4-FFF2-40B4-BE49-F238E27FC236}">
                <a16:creationId xmlns:a16="http://schemas.microsoft.com/office/drawing/2014/main" id="{F073660A-54FE-1A00-1A57-C522C4277065}"/>
              </a:ext>
            </a:extLst>
          </p:cNvPr>
          <p:cNvSpPr/>
          <p:nvPr/>
        </p:nvSpPr>
        <p:spPr>
          <a:xfrm>
            <a:off x="4550664" y="1984248"/>
            <a:ext cx="3087624" cy="0"/>
          </a:xfrm>
          <a:prstGeom prst="line">
            <a:avLst/>
          </a:prstGeom>
          <a:noFill/>
          <a:ln w="9525">
            <a:solidFill>
              <a:srgbClr val="2C4A63"/>
            </a:solidFill>
            <a:prstDash val="solid"/>
          </a:ln>
        </p:spPr>
        <p:txBody>
          <a:bodyPr/>
          <a:lstStyle/>
          <a:p>
            <a:endParaRPr lang="en-IN"/>
          </a:p>
        </p:txBody>
      </p:sp>
      <p:sp>
        <p:nvSpPr>
          <p:cNvPr id="38" name="Text 15">
            <a:extLst>
              <a:ext uri="{FF2B5EF4-FFF2-40B4-BE49-F238E27FC236}">
                <a16:creationId xmlns:a16="http://schemas.microsoft.com/office/drawing/2014/main" id="{0B0B6E76-9E5B-EE30-88CD-6D75A3BA334B}"/>
              </a:ext>
            </a:extLst>
          </p:cNvPr>
          <p:cNvSpPr txBox="1"/>
          <p:nvPr/>
        </p:nvSpPr>
        <p:spPr>
          <a:xfrm>
            <a:off x="4550664" y="2075688"/>
            <a:ext cx="3087624" cy="201168"/>
          </a:xfrm>
          <a:prstGeom prst="rect">
            <a:avLst/>
          </a:prstGeom>
          <a:noFill/>
          <a:ln/>
        </p:spPr>
        <p:txBody>
          <a:bodyPr wrap="square" lIns="0" tIns="0" rIns="0" bIns="0" rtlCol="0" anchor="ctr"/>
          <a:lstStyle/>
          <a:p>
            <a:pPr marL="0" indent="0">
              <a:buNone/>
            </a:pPr>
            <a:r>
              <a:rPr lang="en-US" sz="800" b="1" kern="0" spc="100" dirty="0">
                <a:solidFill>
                  <a:srgbClr val="7FA8BA"/>
                </a:solidFill>
                <a:latin typeface="Calibri" pitchFamily="34" charset="0"/>
                <a:ea typeface="Calibri" pitchFamily="34" charset="-122"/>
                <a:cs typeface="Calibri" pitchFamily="34" charset="-120"/>
              </a:rPr>
              <a:t>TESTED</a:t>
            </a:r>
            <a:endParaRPr lang="en-US" sz="800" dirty="0"/>
          </a:p>
        </p:txBody>
      </p:sp>
      <p:sp>
        <p:nvSpPr>
          <p:cNvPr id="40" name="Text 16">
            <a:extLst>
              <a:ext uri="{FF2B5EF4-FFF2-40B4-BE49-F238E27FC236}">
                <a16:creationId xmlns:a16="http://schemas.microsoft.com/office/drawing/2014/main" id="{27802C07-4209-32FC-FCA5-1B8DE21D2E52}"/>
              </a:ext>
            </a:extLst>
          </p:cNvPr>
          <p:cNvSpPr txBox="1"/>
          <p:nvPr/>
        </p:nvSpPr>
        <p:spPr>
          <a:xfrm>
            <a:off x="4550664" y="2267712"/>
            <a:ext cx="3087624" cy="502920"/>
          </a:xfrm>
          <a:prstGeom prst="rect">
            <a:avLst/>
          </a:prstGeom>
          <a:noFill/>
          <a:ln/>
        </p:spPr>
        <p:txBody>
          <a:bodyPr wrap="square" lIns="0" tIns="0" rIns="0" bIns="0" rtlCol="0" anchor="ctr"/>
          <a:lstStyle/>
          <a:p>
            <a:pPr marL="0" indent="0">
              <a:lnSpc>
                <a:spcPct val="105000"/>
              </a:lnSpc>
              <a:buNone/>
            </a:pPr>
            <a:r>
              <a:rPr lang="en-US" sz="950" dirty="0">
                <a:solidFill>
                  <a:srgbClr val="E6EDF0"/>
                </a:solidFill>
                <a:latin typeface="Calibri" pitchFamily="34" charset="0"/>
                <a:ea typeface="Calibri" pitchFamily="34" charset="-122"/>
                <a:cs typeface="Calibri" pitchFamily="34" charset="-120"/>
              </a:rPr>
              <a:t>Simulated device unreachable</a:t>
            </a:r>
            <a:endParaRPr lang="en-US" sz="950" dirty="0"/>
          </a:p>
          <a:p>
            <a:pPr marL="0" indent="0">
              <a:lnSpc>
                <a:spcPct val="105000"/>
              </a:lnSpc>
              <a:buNone/>
            </a:pPr>
            <a:r>
              <a:rPr lang="en-US" sz="950" dirty="0">
                <a:solidFill>
                  <a:srgbClr val="E6EDF0"/>
                </a:solidFill>
                <a:latin typeface="Calibri" pitchFamily="34" charset="0"/>
                <a:ea typeface="Calibri" pitchFamily="34" charset="-122"/>
                <a:cs typeface="Calibri" pitchFamily="34" charset="-120"/>
              </a:rPr>
              <a:t>(DEVICE_DOWN scenario)</a:t>
            </a:r>
            <a:endParaRPr lang="en-US" sz="950" dirty="0"/>
          </a:p>
        </p:txBody>
      </p:sp>
      <p:sp>
        <p:nvSpPr>
          <p:cNvPr id="42" name="Text 17">
            <a:extLst>
              <a:ext uri="{FF2B5EF4-FFF2-40B4-BE49-F238E27FC236}">
                <a16:creationId xmlns:a16="http://schemas.microsoft.com/office/drawing/2014/main" id="{F78669E4-7927-4643-6B50-7E1FD95F5530}"/>
              </a:ext>
            </a:extLst>
          </p:cNvPr>
          <p:cNvSpPr txBox="1"/>
          <p:nvPr/>
        </p:nvSpPr>
        <p:spPr>
          <a:xfrm>
            <a:off x="4550664" y="3063240"/>
            <a:ext cx="3087624" cy="201168"/>
          </a:xfrm>
          <a:prstGeom prst="rect">
            <a:avLst/>
          </a:prstGeom>
          <a:noFill/>
          <a:ln/>
        </p:spPr>
        <p:txBody>
          <a:bodyPr wrap="square" lIns="0" tIns="0" rIns="0" bIns="0" rtlCol="0" anchor="ctr"/>
          <a:lstStyle/>
          <a:p>
            <a:pPr marL="0" indent="0">
              <a:buNone/>
            </a:pPr>
            <a:r>
              <a:rPr lang="en-US" sz="800" b="1" kern="0" spc="100" dirty="0">
                <a:solidFill>
                  <a:srgbClr val="7FA8BA"/>
                </a:solidFill>
                <a:latin typeface="Calibri" pitchFamily="34" charset="0"/>
                <a:ea typeface="Calibri" pitchFamily="34" charset="-122"/>
                <a:cs typeface="Calibri" pitchFamily="34" charset="-120"/>
              </a:rPr>
              <a:t>RESULT</a:t>
            </a:r>
            <a:endParaRPr lang="en-US" sz="800" dirty="0"/>
          </a:p>
        </p:txBody>
      </p:sp>
      <p:sp>
        <p:nvSpPr>
          <p:cNvPr id="44" name="Text 18">
            <a:extLst>
              <a:ext uri="{FF2B5EF4-FFF2-40B4-BE49-F238E27FC236}">
                <a16:creationId xmlns:a16="http://schemas.microsoft.com/office/drawing/2014/main" id="{C736023E-4F52-094F-0B1F-F13C3B2BD843}"/>
              </a:ext>
            </a:extLst>
          </p:cNvPr>
          <p:cNvSpPr txBox="1"/>
          <p:nvPr/>
        </p:nvSpPr>
        <p:spPr>
          <a:xfrm>
            <a:off x="4550664" y="3246120"/>
            <a:ext cx="2538984" cy="457200"/>
          </a:xfrm>
          <a:prstGeom prst="rect">
            <a:avLst/>
          </a:prstGeom>
          <a:noFill/>
          <a:ln/>
        </p:spPr>
        <p:txBody>
          <a:bodyPr wrap="square" lIns="0" tIns="0" rIns="0" bIns="0" rtlCol="0" anchor="ctr"/>
          <a:lstStyle/>
          <a:p>
            <a:pPr marL="0" indent="0">
              <a:lnSpc>
                <a:spcPct val="105000"/>
              </a:lnSpc>
              <a:buNone/>
            </a:pPr>
            <a:r>
              <a:rPr lang="en-US" sz="950" b="1" dirty="0">
                <a:solidFill>
                  <a:srgbClr val="FFFFFF"/>
                </a:solidFill>
                <a:latin typeface="Calibri" pitchFamily="34" charset="0"/>
                <a:ea typeface="Calibri" pitchFamily="34" charset="-122"/>
                <a:cs typeface="Calibri" pitchFamily="34" charset="-120"/>
              </a:rPr>
              <a:t>CRITICAL alert raised; other devices unaffected</a:t>
            </a:r>
            <a:endParaRPr lang="en-US" sz="950" dirty="0"/>
          </a:p>
        </p:txBody>
      </p:sp>
      <p:sp>
        <p:nvSpPr>
          <p:cNvPr id="46" name="Text 19">
            <a:extLst>
              <a:ext uri="{FF2B5EF4-FFF2-40B4-BE49-F238E27FC236}">
                <a16:creationId xmlns:a16="http://schemas.microsoft.com/office/drawing/2014/main" id="{CF65EDD9-24A5-C40B-40F2-1BBAB6353B9A}"/>
              </a:ext>
            </a:extLst>
          </p:cNvPr>
          <p:cNvSpPr txBox="1"/>
          <p:nvPr/>
        </p:nvSpPr>
        <p:spPr>
          <a:xfrm>
            <a:off x="7089648" y="3364992"/>
            <a:ext cx="594360" cy="274320"/>
          </a:xfrm>
          <a:prstGeom prst="rect">
            <a:avLst/>
          </a:prstGeom>
          <a:noFill/>
          <a:ln/>
        </p:spPr>
        <p:txBody>
          <a:bodyPr wrap="square" lIns="0" tIns="0" rIns="0" bIns="0" rtlCol="0" anchor="ctr"/>
          <a:lstStyle/>
          <a:p>
            <a:pPr marL="0" indent="0" algn="r">
              <a:buNone/>
            </a:pPr>
            <a:r>
              <a:rPr lang="en-US" sz="1000" b="1" dirty="0">
                <a:solidFill>
                  <a:srgbClr val="2E7D5B"/>
                </a:solidFill>
                <a:latin typeface="Calibri" pitchFamily="34" charset="0"/>
                <a:ea typeface="Calibri" pitchFamily="34" charset="-122"/>
                <a:cs typeface="Calibri" pitchFamily="34" charset="-120"/>
              </a:rPr>
              <a:t>PASS</a:t>
            </a:r>
            <a:endParaRPr lang="en-US" sz="1000" dirty="0"/>
          </a:p>
        </p:txBody>
      </p:sp>
      <p:sp>
        <p:nvSpPr>
          <p:cNvPr id="48" name="Shape 20">
            <a:extLst>
              <a:ext uri="{FF2B5EF4-FFF2-40B4-BE49-F238E27FC236}">
                <a16:creationId xmlns:a16="http://schemas.microsoft.com/office/drawing/2014/main" id="{DB0D5D88-DDCA-1ED7-9775-EF0AD3D96E63}"/>
              </a:ext>
            </a:extLst>
          </p:cNvPr>
          <p:cNvSpPr/>
          <p:nvPr/>
        </p:nvSpPr>
        <p:spPr>
          <a:xfrm>
            <a:off x="8095488" y="1417320"/>
            <a:ext cx="3544824" cy="2331720"/>
          </a:xfrm>
          <a:prstGeom prst="roundRect">
            <a:avLst>
              <a:gd name="adj" fmla="val 2745"/>
            </a:avLst>
          </a:prstGeom>
          <a:solidFill>
            <a:srgbClr val="13293D"/>
          </a:solidFill>
          <a:ln/>
        </p:spPr>
        <p:txBody>
          <a:bodyPr/>
          <a:lstStyle/>
          <a:p>
            <a:endParaRPr lang="en-IN"/>
          </a:p>
        </p:txBody>
      </p:sp>
      <p:sp>
        <p:nvSpPr>
          <p:cNvPr id="50" name="Shape 21">
            <a:extLst>
              <a:ext uri="{FF2B5EF4-FFF2-40B4-BE49-F238E27FC236}">
                <a16:creationId xmlns:a16="http://schemas.microsoft.com/office/drawing/2014/main" id="{7F9BC548-A2D3-CDBF-37EF-49A0EC7378C5}"/>
              </a:ext>
            </a:extLst>
          </p:cNvPr>
          <p:cNvSpPr/>
          <p:nvPr/>
        </p:nvSpPr>
        <p:spPr>
          <a:xfrm>
            <a:off x="11292840" y="1618488"/>
            <a:ext cx="146304" cy="146304"/>
          </a:xfrm>
          <a:prstGeom prst="ellipse">
            <a:avLst/>
          </a:prstGeom>
          <a:solidFill>
            <a:srgbClr val="2E7D5B"/>
          </a:solidFill>
          <a:ln/>
        </p:spPr>
        <p:txBody>
          <a:bodyPr/>
          <a:lstStyle/>
          <a:p>
            <a:endParaRPr lang="en-IN"/>
          </a:p>
        </p:txBody>
      </p:sp>
      <p:sp>
        <p:nvSpPr>
          <p:cNvPr id="52" name="Text 22">
            <a:extLst>
              <a:ext uri="{FF2B5EF4-FFF2-40B4-BE49-F238E27FC236}">
                <a16:creationId xmlns:a16="http://schemas.microsoft.com/office/drawing/2014/main" id="{9F63B31B-83C9-EEE3-BBD0-521D3423718F}"/>
              </a:ext>
            </a:extLst>
          </p:cNvPr>
          <p:cNvSpPr txBox="1"/>
          <p:nvPr/>
        </p:nvSpPr>
        <p:spPr>
          <a:xfrm>
            <a:off x="8324088" y="1581912"/>
            <a:ext cx="2904744" cy="365760"/>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Data Consistency</a:t>
            </a:r>
            <a:endParaRPr lang="en-US" sz="1450" dirty="0"/>
          </a:p>
        </p:txBody>
      </p:sp>
      <p:sp>
        <p:nvSpPr>
          <p:cNvPr id="54" name="Shape 23">
            <a:extLst>
              <a:ext uri="{FF2B5EF4-FFF2-40B4-BE49-F238E27FC236}">
                <a16:creationId xmlns:a16="http://schemas.microsoft.com/office/drawing/2014/main" id="{CCAED8EF-D585-B700-8EA0-DB651E7A6D1F}"/>
              </a:ext>
            </a:extLst>
          </p:cNvPr>
          <p:cNvSpPr/>
          <p:nvPr/>
        </p:nvSpPr>
        <p:spPr>
          <a:xfrm>
            <a:off x="8324088" y="1984248"/>
            <a:ext cx="3087624" cy="0"/>
          </a:xfrm>
          <a:prstGeom prst="line">
            <a:avLst/>
          </a:prstGeom>
          <a:noFill/>
          <a:ln w="9525">
            <a:solidFill>
              <a:srgbClr val="2C4A63"/>
            </a:solidFill>
            <a:prstDash val="solid"/>
          </a:ln>
        </p:spPr>
        <p:txBody>
          <a:bodyPr/>
          <a:lstStyle/>
          <a:p>
            <a:endParaRPr lang="en-IN"/>
          </a:p>
        </p:txBody>
      </p:sp>
      <p:sp>
        <p:nvSpPr>
          <p:cNvPr id="56" name="Text 24">
            <a:extLst>
              <a:ext uri="{FF2B5EF4-FFF2-40B4-BE49-F238E27FC236}">
                <a16:creationId xmlns:a16="http://schemas.microsoft.com/office/drawing/2014/main" id="{E8F4657F-C0C1-5D62-BA3D-95BAD1B3B071}"/>
              </a:ext>
            </a:extLst>
          </p:cNvPr>
          <p:cNvSpPr txBox="1"/>
          <p:nvPr/>
        </p:nvSpPr>
        <p:spPr>
          <a:xfrm>
            <a:off x="8324088" y="2075688"/>
            <a:ext cx="3087624" cy="201168"/>
          </a:xfrm>
          <a:prstGeom prst="rect">
            <a:avLst/>
          </a:prstGeom>
          <a:noFill/>
          <a:ln/>
        </p:spPr>
        <p:txBody>
          <a:bodyPr wrap="square" lIns="0" tIns="0" rIns="0" bIns="0" rtlCol="0" anchor="ctr"/>
          <a:lstStyle/>
          <a:p>
            <a:pPr marL="0" indent="0">
              <a:buNone/>
            </a:pPr>
            <a:r>
              <a:rPr lang="en-US" sz="800" b="1" kern="0" spc="100" dirty="0">
                <a:solidFill>
                  <a:srgbClr val="7FA8BA"/>
                </a:solidFill>
                <a:latin typeface="Calibri" pitchFamily="34" charset="0"/>
                <a:ea typeface="Calibri" pitchFamily="34" charset="-122"/>
                <a:cs typeface="Calibri" pitchFamily="34" charset="-120"/>
              </a:rPr>
              <a:t>TESTED</a:t>
            </a:r>
            <a:endParaRPr lang="en-US" sz="800" dirty="0"/>
          </a:p>
        </p:txBody>
      </p:sp>
      <p:sp>
        <p:nvSpPr>
          <p:cNvPr id="58" name="Text 25">
            <a:extLst>
              <a:ext uri="{FF2B5EF4-FFF2-40B4-BE49-F238E27FC236}">
                <a16:creationId xmlns:a16="http://schemas.microsoft.com/office/drawing/2014/main" id="{175D4F4C-C6BF-F399-2084-5261B497A083}"/>
              </a:ext>
            </a:extLst>
          </p:cNvPr>
          <p:cNvSpPr txBox="1"/>
          <p:nvPr/>
        </p:nvSpPr>
        <p:spPr>
          <a:xfrm>
            <a:off x="8324088" y="2267712"/>
            <a:ext cx="3087624" cy="502920"/>
          </a:xfrm>
          <a:prstGeom prst="rect">
            <a:avLst/>
          </a:prstGeom>
          <a:noFill/>
          <a:ln/>
        </p:spPr>
        <p:txBody>
          <a:bodyPr wrap="square" lIns="0" tIns="0" rIns="0" bIns="0" rtlCol="0" anchor="ctr"/>
          <a:lstStyle/>
          <a:p>
            <a:pPr marL="0" indent="0">
              <a:lnSpc>
                <a:spcPct val="105000"/>
              </a:lnSpc>
              <a:buNone/>
            </a:pPr>
            <a:r>
              <a:rPr lang="en-US" sz="950" dirty="0">
                <a:solidFill>
                  <a:srgbClr val="E6EDF0"/>
                </a:solidFill>
                <a:latin typeface="Calibri" pitchFamily="34" charset="0"/>
                <a:ea typeface="Calibri" pitchFamily="34" charset="-122"/>
                <a:cs typeface="Calibri" pitchFamily="34" charset="-120"/>
              </a:rPr>
              <a:t>Alert lifecycle across 8 consecutive</a:t>
            </a:r>
            <a:endParaRPr lang="en-US" sz="950" dirty="0"/>
          </a:p>
          <a:p>
            <a:pPr marL="0" indent="0">
              <a:lnSpc>
                <a:spcPct val="105000"/>
              </a:lnSpc>
              <a:buNone/>
            </a:pPr>
            <a:r>
              <a:rPr lang="en-US" sz="950" dirty="0">
                <a:solidFill>
                  <a:srgbClr val="E6EDF0"/>
                </a:solidFill>
                <a:latin typeface="Calibri" pitchFamily="34" charset="0"/>
                <a:ea typeface="Calibri" pitchFamily="34" charset="-122"/>
                <a:cs typeface="Calibri" pitchFamily="34" charset="-120"/>
              </a:rPr>
              <a:t>breaching polls</a:t>
            </a:r>
            <a:endParaRPr lang="en-US" sz="950" dirty="0"/>
          </a:p>
        </p:txBody>
      </p:sp>
      <p:sp>
        <p:nvSpPr>
          <p:cNvPr id="60" name="Text 26">
            <a:extLst>
              <a:ext uri="{FF2B5EF4-FFF2-40B4-BE49-F238E27FC236}">
                <a16:creationId xmlns:a16="http://schemas.microsoft.com/office/drawing/2014/main" id="{4D09BF80-5AFE-B1E1-8A15-1AF061FA4356}"/>
              </a:ext>
            </a:extLst>
          </p:cNvPr>
          <p:cNvSpPr txBox="1"/>
          <p:nvPr/>
        </p:nvSpPr>
        <p:spPr>
          <a:xfrm>
            <a:off x="8324088" y="3063240"/>
            <a:ext cx="3087624" cy="201168"/>
          </a:xfrm>
          <a:prstGeom prst="rect">
            <a:avLst/>
          </a:prstGeom>
          <a:noFill/>
          <a:ln/>
        </p:spPr>
        <p:txBody>
          <a:bodyPr wrap="square" lIns="0" tIns="0" rIns="0" bIns="0" rtlCol="0" anchor="ctr"/>
          <a:lstStyle/>
          <a:p>
            <a:pPr marL="0" indent="0">
              <a:buNone/>
            </a:pPr>
            <a:r>
              <a:rPr lang="en-US" sz="800" b="1" kern="0" spc="100" dirty="0">
                <a:solidFill>
                  <a:srgbClr val="7FA8BA"/>
                </a:solidFill>
                <a:latin typeface="Calibri" pitchFamily="34" charset="0"/>
                <a:ea typeface="Calibri" pitchFamily="34" charset="-122"/>
                <a:cs typeface="Calibri" pitchFamily="34" charset="-120"/>
              </a:rPr>
              <a:t>RESULT</a:t>
            </a:r>
            <a:endParaRPr lang="en-US" sz="800" dirty="0"/>
          </a:p>
        </p:txBody>
      </p:sp>
      <p:sp>
        <p:nvSpPr>
          <p:cNvPr id="62" name="Text 27">
            <a:extLst>
              <a:ext uri="{FF2B5EF4-FFF2-40B4-BE49-F238E27FC236}">
                <a16:creationId xmlns:a16="http://schemas.microsoft.com/office/drawing/2014/main" id="{10A5C6C2-7B18-60AA-69F6-3A58E16D48A2}"/>
              </a:ext>
            </a:extLst>
          </p:cNvPr>
          <p:cNvSpPr txBox="1"/>
          <p:nvPr/>
        </p:nvSpPr>
        <p:spPr>
          <a:xfrm>
            <a:off x="8324088" y="3246120"/>
            <a:ext cx="2538984" cy="457200"/>
          </a:xfrm>
          <a:prstGeom prst="rect">
            <a:avLst/>
          </a:prstGeom>
          <a:noFill/>
          <a:ln/>
        </p:spPr>
        <p:txBody>
          <a:bodyPr wrap="square" lIns="0" tIns="0" rIns="0" bIns="0" rtlCol="0" anchor="ctr"/>
          <a:lstStyle/>
          <a:p>
            <a:pPr marL="0" indent="0">
              <a:lnSpc>
                <a:spcPct val="105000"/>
              </a:lnSpc>
              <a:buNone/>
            </a:pPr>
            <a:r>
              <a:rPr lang="en-US" sz="950" b="1" dirty="0">
                <a:solidFill>
                  <a:srgbClr val="FFFFFF"/>
                </a:solidFill>
                <a:latin typeface="Calibri" pitchFamily="34" charset="0"/>
                <a:ea typeface="Calibri" pitchFamily="34" charset="-122"/>
                <a:cs typeface="Calibri" pitchFamily="34" charset="-120"/>
              </a:rPr>
              <a:t>Exactly 1 ACTIVE row per interface; resolved_at correct</a:t>
            </a:r>
            <a:endParaRPr lang="en-US" sz="950" dirty="0"/>
          </a:p>
        </p:txBody>
      </p:sp>
      <p:sp>
        <p:nvSpPr>
          <p:cNvPr id="64" name="Text 28">
            <a:extLst>
              <a:ext uri="{FF2B5EF4-FFF2-40B4-BE49-F238E27FC236}">
                <a16:creationId xmlns:a16="http://schemas.microsoft.com/office/drawing/2014/main" id="{1B23CB8F-3069-2A4F-E7BF-21A806449AAA}"/>
              </a:ext>
            </a:extLst>
          </p:cNvPr>
          <p:cNvSpPr txBox="1"/>
          <p:nvPr/>
        </p:nvSpPr>
        <p:spPr>
          <a:xfrm>
            <a:off x="10863072" y="3364992"/>
            <a:ext cx="594360" cy="274320"/>
          </a:xfrm>
          <a:prstGeom prst="rect">
            <a:avLst/>
          </a:prstGeom>
          <a:noFill/>
          <a:ln/>
        </p:spPr>
        <p:txBody>
          <a:bodyPr wrap="square" lIns="0" tIns="0" rIns="0" bIns="0" rtlCol="0" anchor="ctr"/>
          <a:lstStyle/>
          <a:p>
            <a:pPr marL="0" indent="0" algn="r">
              <a:buNone/>
            </a:pPr>
            <a:r>
              <a:rPr lang="en-US" sz="1000" b="1" dirty="0">
                <a:solidFill>
                  <a:srgbClr val="2E7D5B"/>
                </a:solidFill>
                <a:latin typeface="Calibri" pitchFamily="34" charset="0"/>
                <a:ea typeface="Calibri" pitchFamily="34" charset="-122"/>
                <a:cs typeface="Calibri" pitchFamily="34" charset="-120"/>
              </a:rPr>
              <a:t>PASS</a:t>
            </a:r>
            <a:endParaRPr lang="en-US" sz="1000" dirty="0"/>
          </a:p>
        </p:txBody>
      </p:sp>
      <p:sp>
        <p:nvSpPr>
          <p:cNvPr id="66" name="Shape 29">
            <a:extLst>
              <a:ext uri="{FF2B5EF4-FFF2-40B4-BE49-F238E27FC236}">
                <a16:creationId xmlns:a16="http://schemas.microsoft.com/office/drawing/2014/main" id="{3BD390A2-7289-AFE0-8265-7930E7A0700C}"/>
              </a:ext>
            </a:extLst>
          </p:cNvPr>
          <p:cNvSpPr/>
          <p:nvPr/>
        </p:nvSpPr>
        <p:spPr>
          <a:xfrm>
            <a:off x="548640" y="3977640"/>
            <a:ext cx="3544824" cy="2331720"/>
          </a:xfrm>
          <a:prstGeom prst="roundRect">
            <a:avLst>
              <a:gd name="adj" fmla="val 2745"/>
            </a:avLst>
          </a:prstGeom>
          <a:solidFill>
            <a:srgbClr val="13293D"/>
          </a:solidFill>
          <a:ln/>
        </p:spPr>
        <p:txBody>
          <a:bodyPr/>
          <a:lstStyle/>
          <a:p>
            <a:endParaRPr lang="en-IN"/>
          </a:p>
        </p:txBody>
      </p:sp>
      <p:sp>
        <p:nvSpPr>
          <p:cNvPr id="68" name="Shape 30">
            <a:extLst>
              <a:ext uri="{FF2B5EF4-FFF2-40B4-BE49-F238E27FC236}">
                <a16:creationId xmlns:a16="http://schemas.microsoft.com/office/drawing/2014/main" id="{F73EE08F-6B70-5A15-83AE-9B27474DD3B9}"/>
              </a:ext>
            </a:extLst>
          </p:cNvPr>
          <p:cNvSpPr/>
          <p:nvPr/>
        </p:nvSpPr>
        <p:spPr>
          <a:xfrm>
            <a:off x="3745992" y="4178808"/>
            <a:ext cx="146304" cy="146304"/>
          </a:xfrm>
          <a:prstGeom prst="ellipse">
            <a:avLst/>
          </a:prstGeom>
          <a:solidFill>
            <a:srgbClr val="2E7D5B"/>
          </a:solidFill>
          <a:ln/>
        </p:spPr>
        <p:txBody>
          <a:bodyPr/>
          <a:lstStyle/>
          <a:p>
            <a:endParaRPr lang="en-IN"/>
          </a:p>
        </p:txBody>
      </p:sp>
      <p:sp>
        <p:nvSpPr>
          <p:cNvPr id="70" name="Text 31">
            <a:extLst>
              <a:ext uri="{FF2B5EF4-FFF2-40B4-BE49-F238E27FC236}">
                <a16:creationId xmlns:a16="http://schemas.microsoft.com/office/drawing/2014/main" id="{18F1DDC2-0234-8D9D-524B-1BDA0FD7EDFF}"/>
              </a:ext>
            </a:extLst>
          </p:cNvPr>
          <p:cNvSpPr txBox="1"/>
          <p:nvPr/>
        </p:nvSpPr>
        <p:spPr>
          <a:xfrm>
            <a:off x="777240" y="4142232"/>
            <a:ext cx="2904744" cy="365760"/>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Modularity</a:t>
            </a:r>
            <a:endParaRPr lang="en-US" sz="1450" dirty="0"/>
          </a:p>
        </p:txBody>
      </p:sp>
      <p:sp>
        <p:nvSpPr>
          <p:cNvPr id="72" name="Shape 32">
            <a:extLst>
              <a:ext uri="{FF2B5EF4-FFF2-40B4-BE49-F238E27FC236}">
                <a16:creationId xmlns:a16="http://schemas.microsoft.com/office/drawing/2014/main" id="{E014E250-479D-526B-90A1-4923AA08F0B9}"/>
              </a:ext>
            </a:extLst>
          </p:cNvPr>
          <p:cNvSpPr/>
          <p:nvPr/>
        </p:nvSpPr>
        <p:spPr>
          <a:xfrm>
            <a:off x="777240" y="4544568"/>
            <a:ext cx="3087624" cy="0"/>
          </a:xfrm>
          <a:prstGeom prst="line">
            <a:avLst/>
          </a:prstGeom>
          <a:noFill/>
          <a:ln w="9525">
            <a:solidFill>
              <a:srgbClr val="2C4A63"/>
            </a:solidFill>
            <a:prstDash val="solid"/>
          </a:ln>
        </p:spPr>
        <p:txBody>
          <a:bodyPr/>
          <a:lstStyle/>
          <a:p>
            <a:endParaRPr lang="en-IN"/>
          </a:p>
        </p:txBody>
      </p:sp>
      <p:sp>
        <p:nvSpPr>
          <p:cNvPr id="74" name="Text 33">
            <a:extLst>
              <a:ext uri="{FF2B5EF4-FFF2-40B4-BE49-F238E27FC236}">
                <a16:creationId xmlns:a16="http://schemas.microsoft.com/office/drawing/2014/main" id="{55C3DD18-F501-B23C-593F-3184D8EDAE31}"/>
              </a:ext>
            </a:extLst>
          </p:cNvPr>
          <p:cNvSpPr txBox="1"/>
          <p:nvPr/>
        </p:nvSpPr>
        <p:spPr>
          <a:xfrm>
            <a:off x="777240" y="4636008"/>
            <a:ext cx="3087624" cy="201168"/>
          </a:xfrm>
          <a:prstGeom prst="rect">
            <a:avLst/>
          </a:prstGeom>
          <a:noFill/>
          <a:ln/>
        </p:spPr>
        <p:txBody>
          <a:bodyPr wrap="square" lIns="0" tIns="0" rIns="0" bIns="0" rtlCol="0" anchor="ctr"/>
          <a:lstStyle/>
          <a:p>
            <a:pPr marL="0" indent="0">
              <a:buNone/>
            </a:pPr>
            <a:r>
              <a:rPr lang="en-US" sz="800" b="1" kern="0" spc="100" dirty="0">
                <a:solidFill>
                  <a:srgbClr val="7FA8BA"/>
                </a:solidFill>
                <a:latin typeface="Calibri" pitchFamily="34" charset="0"/>
                <a:ea typeface="Calibri" pitchFamily="34" charset="-122"/>
                <a:cs typeface="Calibri" pitchFamily="34" charset="-120"/>
              </a:rPr>
              <a:t>TESTED</a:t>
            </a:r>
            <a:endParaRPr lang="en-US" sz="800" dirty="0"/>
          </a:p>
        </p:txBody>
      </p:sp>
      <p:sp>
        <p:nvSpPr>
          <p:cNvPr id="76" name="Text 34">
            <a:extLst>
              <a:ext uri="{FF2B5EF4-FFF2-40B4-BE49-F238E27FC236}">
                <a16:creationId xmlns:a16="http://schemas.microsoft.com/office/drawing/2014/main" id="{3BA73574-606A-17FF-1D48-FE8DB96261AF}"/>
              </a:ext>
            </a:extLst>
          </p:cNvPr>
          <p:cNvSpPr txBox="1"/>
          <p:nvPr/>
        </p:nvSpPr>
        <p:spPr>
          <a:xfrm>
            <a:off x="777240" y="4828032"/>
            <a:ext cx="3087624" cy="502920"/>
          </a:xfrm>
          <a:prstGeom prst="rect">
            <a:avLst/>
          </a:prstGeom>
          <a:noFill/>
          <a:ln/>
        </p:spPr>
        <p:txBody>
          <a:bodyPr wrap="square" lIns="0" tIns="0" rIns="0" bIns="0" rtlCol="0" anchor="ctr"/>
          <a:lstStyle/>
          <a:p>
            <a:pPr marL="0" indent="0">
              <a:lnSpc>
                <a:spcPct val="105000"/>
              </a:lnSpc>
              <a:buNone/>
            </a:pPr>
            <a:r>
              <a:rPr lang="en-US" sz="950" dirty="0">
                <a:solidFill>
                  <a:srgbClr val="E6EDF0"/>
                </a:solidFill>
                <a:latin typeface="Calibri" pitchFamily="34" charset="0"/>
                <a:ea typeface="Calibri" pitchFamily="34" charset="-122"/>
                <a:cs typeface="Calibri" pitchFamily="34" charset="-120"/>
              </a:rPr>
              <a:t>Same unmodified code run vs.</a:t>
            </a:r>
            <a:endParaRPr lang="en-US" sz="950" dirty="0"/>
          </a:p>
          <a:p>
            <a:pPr marL="0" indent="0">
              <a:lnSpc>
                <a:spcPct val="105000"/>
              </a:lnSpc>
              <a:buNone/>
            </a:pPr>
            <a:r>
              <a:rPr lang="en-US" sz="950" dirty="0">
                <a:solidFill>
                  <a:srgbClr val="E6EDF0"/>
                </a:solidFill>
                <a:latin typeface="Calibri" pitchFamily="34" charset="0"/>
                <a:ea typeface="Calibri" pitchFamily="34" charset="-122"/>
                <a:cs typeface="Calibri" pitchFamily="34" charset="-120"/>
              </a:rPr>
              <a:t>simulator AND real GNS3/VyOS device</a:t>
            </a:r>
            <a:endParaRPr lang="en-US" sz="950" dirty="0"/>
          </a:p>
        </p:txBody>
      </p:sp>
      <p:sp>
        <p:nvSpPr>
          <p:cNvPr id="78" name="Text 35">
            <a:extLst>
              <a:ext uri="{FF2B5EF4-FFF2-40B4-BE49-F238E27FC236}">
                <a16:creationId xmlns:a16="http://schemas.microsoft.com/office/drawing/2014/main" id="{3FF7723B-4EBA-003E-4B4E-9C2F2C4C36E2}"/>
              </a:ext>
            </a:extLst>
          </p:cNvPr>
          <p:cNvSpPr txBox="1"/>
          <p:nvPr/>
        </p:nvSpPr>
        <p:spPr>
          <a:xfrm>
            <a:off x="777240" y="5623560"/>
            <a:ext cx="3087624" cy="201168"/>
          </a:xfrm>
          <a:prstGeom prst="rect">
            <a:avLst/>
          </a:prstGeom>
          <a:noFill/>
          <a:ln/>
        </p:spPr>
        <p:txBody>
          <a:bodyPr wrap="square" lIns="0" tIns="0" rIns="0" bIns="0" rtlCol="0" anchor="ctr"/>
          <a:lstStyle/>
          <a:p>
            <a:pPr marL="0" indent="0">
              <a:buNone/>
            </a:pPr>
            <a:r>
              <a:rPr lang="en-US" sz="800" b="1" kern="0" spc="100" dirty="0">
                <a:solidFill>
                  <a:srgbClr val="7FA8BA"/>
                </a:solidFill>
                <a:latin typeface="Calibri" pitchFamily="34" charset="0"/>
                <a:ea typeface="Calibri" pitchFamily="34" charset="-122"/>
                <a:cs typeface="Calibri" pitchFamily="34" charset="-120"/>
              </a:rPr>
              <a:t>RESULT</a:t>
            </a:r>
            <a:endParaRPr lang="en-US" sz="800" dirty="0"/>
          </a:p>
        </p:txBody>
      </p:sp>
      <p:sp>
        <p:nvSpPr>
          <p:cNvPr id="80" name="Text 36">
            <a:extLst>
              <a:ext uri="{FF2B5EF4-FFF2-40B4-BE49-F238E27FC236}">
                <a16:creationId xmlns:a16="http://schemas.microsoft.com/office/drawing/2014/main" id="{F08A5805-F8B4-4D6E-C075-2BEA56736D22}"/>
              </a:ext>
            </a:extLst>
          </p:cNvPr>
          <p:cNvSpPr txBox="1"/>
          <p:nvPr/>
        </p:nvSpPr>
        <p:spPr>
          <a:xfrm>
            <a:off x="777240" y="5806440"/>
            <a:ext cx="2538984" cy="457200"/>
          </a:xfrm>
          <a:prstGeom prst="rect">
            <a:avLst/>
          </a:prstGeom>
          <a:noFill/>
          <a:ln/>
        </p:spPr>
        <p:txBody>
          <a:bodyPr wrap="square" lIns="0" tIns="0" rIns="0" bIns="0" rtlCol="0" anchor="ctr"/>
          <a:lstStyle/>
          <a:p>
            <a:pPr marL="0" indent="0">
              <a:lnSpc>
                <a:spcPct val="105000"/>
              </a:lnSpc>
              <a:buNone/>
            </a:pPr>
            <a:r>
              <a:rPr lang="en-US" sz="950" b="1" dirty="0">
                <a:solidFill>
                  <a:srgbClr val="FFFFFF"/>
                </a:solidFill>
                <a:latin typeface="Calibri" pitchFamily="34" charset="0"/>
                <a:ea typeface="Calibri" pitchFamily="34" charset="-122"/>
                <a:cs typeface="Calibri" pitchFamily="34" charset="-120"/>
              </a:rPr>
              <a:t>Both sources, one pipeline, zero code change</a:t>
            </a:r>
            <a:endParaRPr lang="en-US" sz="950" dirty="0"/>
          </a:p>
        </p:txBody>
      </p:sp>
      <p:sp>
        <p:nvSpPr>
          <p:cNvPr id="82" name="Text 37">
            <a:extLst>
              <a:ext uri="{FF2B5EF4-FFF2-40B4-BE49-F238E27FC236}">
                <a16:creationId xmlns:a16="http://schemas.microsoft.com/office/drawing/2014/main" id="{DED62FF2-5187-9067-3C67-12C125F52C43}"/>
              </a:ext>
            </a:extLst>
          </p:cNvPr>
          <p:cNvSpPr txBox="1"/>
          <p:nvPr/>
        </p:nvSpPr>
        <p:spPr>
          <a:xfrm>
            <a:off x="3316224" y="5925312"/>
            <a:ext cx="594360" cy="274320"/>
          </a:xfrm>
          <a:prstGeom prst="rect">
            <a:avLst/>
          </a:prstGeom>
          <a:noFill/>
          <a:ln/>
        </p:spPr>
        <p:txBody>
          <a:bodyPr wrap="square" lIns="0" tIns="0" rIns="0" bIns="0" rtlCol="0" anchor="ctr"/>
          <a:lstStyle/>
          <a:p>
            <a:pPr marL="0" indent="0" algn="r">
              <a:buNone/>
            </a:pPr>
            <a:r>
              <a:rPr lang="en-US" sz="1000" b="1" dirty="0">
                <a:solidFill>
                  <a:srgbClr val="2E7D5B"/>
                </a:solidFill>
                <a:latin typeface="Calibri" pitchFamily="34" charset="0"/>
                <a:ea typeface="Calibri" pitchFamily="34" charset="-122"/>
                <a:cs typeface="Calibri" pitchFamily="34" charset="-120"/>
              </a:rPr>
              <a:t>PASS</a:t>
            </a:r>
            <a:endParaRPr lang="en-US" sz="1000" dirty="0"/>
          </a:p>
        </p:txBody>
      </p:sp>
      <p:sp>
        <p:nvSpPr>
          <p:cNvPr id="84" name="Shape 38">
            <a:extLst>
              <a:ext uri="{FF2B5EF4-FFF2-40B4-BE49-F238E27FC236}">
                <a16:creationId xmlns:a16="http://schemas.microsoft.com/office/drawing/2014/main" id="{965C8F01-B452-609C-8670-81884925E525}"/>
              </a:ext>
            </a:extLst>
          </p:cNvPr>
          <p:cNvSpPr/>
          <p:nvPr/>
        </p:nvSpPr>
        <p:spPr>
          <a:xfrm>
            <a:off x="4322064" y="3977640"/>
            <a:ext cx="3544824" cy="2331720"/>
          </a:xfrm>
          <a:prstGeom prst="roundRect">
            <a:avLst>
              <a:gd name="adj" fmla="val 2745"/>
            </a:avLst>
          </a:prstGeom>
          <a:solidFill>
            <a:srgbClr val="13293D"/>
          </a:solidFill>
          <a:ln/>
        </p:spPr>
        <p:txBody>
          <a:bodyPr/>
          <a:lstStyle/>
          <a:p>
            <a:endParaRPr lang="en-IN"/>
          </a:p>
        </p:txBody>
      </p:sp>
      <p:sp>
        <p:nvSpPr>
          <p:cNvPr id="86" name="Shape 39">
            <a:extLst>
              <a:ext uri="{FF2B5EF4-FFF2-40B4-BE49-F238E27FC236}">
                <a16:creationId xmlns:a16="http://schemas.microsoft.com/office/drawing/2014/main" id="{75F3CD94-AB8D-7556-E112-D82CC17E0E53}"/>
              </a:ext>
            </a:extLst>
          </p:cNvPr>
          <p:cNvSpPr/>
          <p:nvPr/>
        </p:nvSpPr>
        <p:spPr>
          <a:xfrm>
            <a:off x="7519416" y="4178808"/>
            <a:ext cx="146304" cy="146304"/>
          </a:xfrm>
          <a:prstGeom prst="ellipse">
            <a:avLst/>
          </a:prstGeom>
          <a:solidFill>
            <a:srgbClr val="2E7D5B"/>
          </a:solidFill>
          <a:ln/>
        </p:spPr>
        <p:txBody>
          <a:bodyPr/>
          <a:lstStyle/>
          <a:p>
            <a:endParaRPr lang="en-IN"/>
          </a:p>
        </p:txBody>
      </p:sp>
      <p:sp>
        <p:nvSpPr>
          <p:cNvPr id="88" name="Text 40">
            <a:extLst>
              <a:ext uri="{FF2B5EF4-FFF2-40B4-BE49-F238E27FC236}">
                <a16:creationId xmlns:a16="http://schemas.microsoft.com/office/drawing/2014/main" id="{1989E388-9593-F68F-1017-BD2B44DFAAFF}"/>
              </a:ext>
            </a:extLst>
          </p:cNvPr>
          <p:cNvSpPr txBox="1"/>
          <p:nvPr/>
        </p:nvSpPr>
        <p:spPr>
          <a:xfrm>
            <a:off x="4550664" y="4142232"/>
            <a:ext cx="2904744" cy="365760"/>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Correctness</a:t>
            </a:r>
            <a:endParaRPr lang="en-US" sz="1450" dirty="0"/>
          </a:p>
        </p:txBody>
      </p:sp>
      <p:sp>
        <p:nvSpPr>
          <p:cNvPr id="90" name="Shape 41">
            <a:extLst>
              <a:ext uri="{FF2B5EF4-FFF2-40B4-BE49-F238E27FC236}">
                <a16:creationId xmlns:a16="http://schemas.microsoft.com/office/drawing/2014/main" id="{5FA920AD-00E9-800A-D53D-7150BFB70F24}"/>
              </a:ext>
            </a:extLst>
          </p:cNvPr>
          <p:cNvSpPr/>
          <p:nvPr/>
        </p:nvSpPr>
        <p:spPr>
          <a:xfrm>
            <a:off x="4550664" y="4544568"/>
            <a:ext cx="3087624" cy="0"/>
          </a:xfrm>
          <a:prstGeom prst="line">
            <a:avLst/>
          </a:prstGeom>
          <a:noFill/>
          <a:ln w="9525">
            <a:solidFill>
              <a:srgbClr val="2C4A63"/>
            </a:solidFill>
            <a:prstDash val="solid"/>
          </a:ln>
        </p:spPr>
        <p:txBody>
          <a:bodyPr/>
          <a:lstStyle/>
          <a:p>
            <a:endParaRPr lang="en-IN"/>
          </a:p>
        </p:txBody>
      </p:sp>
      <p:sp>
        <p:nvSpPr>
          <p:cNvPr id="92" name="Text 42">
            <a:extLst>
              <a:ext uri="{FF2B5EF4-FFF2-40B4-BE49-F238E27FC236}">
                <a16:creationId xmlns:a16="http://schemas.microsoft.com/office/drawing/2014/main" id="{A2916E6E-4596-D45A-C259-BD28A53178B8}"/>
              </a:ext>
            </a:extLst>
          </p:cNvPr>
          <p:cNvSpPr txBox="1"/>
          <p:nvPr/>
        </p:nvSpPr>
        <p:spPr>
          <a:xfrm>
            <a:off x="4550664" y="4636008"/>
            <a:ext cx="3087624" cy="201168"/>
          </a:xfrm>
          <a:prstGeom prst="rect">
            <a:avLst/>
          </a:prstGeom>
          <a:noFill/>
          <a:ln/>
        </p:spPr>
        <p:txBody>
          <a:bodyPr wrap="square" lIns="0" tIns="0" rIns="0" bIns="0" rtlCol="0" anchor="ctr"/>
          <a:lstStyle/>
          <a:p>
            <a:pPr marL="0" indent="0">
              <a:buNone/>
            </a:pPr>
            <a:r>
              <a:rPr lang="en-US" sz="800" b="1" kern="0" spc="100" dirty="0">
                <a:solidFill>
                  <a:srgbClr val="7FA8BA"/>
                </a:solidFill>
                <a:latin typeface="Calibri" pitchFamily="34" charset="0"/>
                <a:ea typeface="Calibri" pitchFamily="34" charset="-122"/>
                <a:cs typeface="Calibri" pitchFamily="34" charset="-120"/>
              </a:rPr>
              <a:t>TESTED</a:t>
            </a:r>
            <a:endParaRPr lang="en-US" sz="800" dirty="0"/>
          </a:p>
        </p:txBody>
      </p:sp>
      <p:sp>
        <p:nvSpPr>
          <p:cNvPr id="94" name="Text 43">
            <a:extLst>
              <a:ext uri="{FF2B5EF4-FFF2-40B4-BE49-F238E27FC236}">
                <a16:creationId xmlns:a16="http://schemas.microsoft.com/office/drawing/2014/main" id="{58BBD89A-4C53-58EF-B97B-04A32122DC2E}"/>
              </a:ext>
            </a:extLst>
          </p:cNvPr>
          <p:cNvSpPr txBox="1"/>
          <p:nvPr/>
        </p:nvSpPr>
        <p:spPr>
          <a:xfrm>
            <a:off x="4550664" y="4828032"/>
            <a:ext cx="3087624" cy="502920"/>
          </a:xfrm>
          <a:prstGeom prst="rect">
            <a:avLst/>
          </a:prstGeom>
          <a:noFill/>
          <a:ln/>
        </p:spPr>
        <p:txBody>
          <a:bodyPr wrap="square" lIns="0" tIns="0" rIns="0" bIns="0" rtlCol="0" anchor="ctr"/>
          <a:lstStyle/>
          <a:p>
            <a:pPr marL="0" indent="0">
              <a:lnSpc>
                <a:spcPct val="105000"/>
              </a:lnSpc>
              <a:buNone/>
            </a:pPr>
            <a:r>
              <a:rPr lang="en-US" sz="950" dirty="0">
                <a:solidFill>
                  <a:srgbClr val="E6EDF0"/>
                </a:solidFill>
                <a:latin typeface="Calibri" pitchFamily="34" charset="0"/>
                <a:ea typeface="Calibri" pitchFamily="34" charset="-122"/>
                <a:cs typeface="Calibri" pitchFamily="34" charset="-120"/>
              </a:rPr>
              <a:t>112-case automated suite</a:t>
            </a:r>
            <a:endParaRPr lang="en-US" sz="950" dirty="0"/>
          </a:p>
          <a:p>
            <a:pPr marL="0" indent="0">
              <a:lnSpc>
                <a:spcPct val="105000"/>
              </a:lnSpc>
              <a:buNone/>
            </a:pPr>
            <a:r>
              <a:rPr lang="en-US" sz="950" dirty="0">
                <a:solidFill>
                  <a:srgbClr val="E6EDF0"/>
                </a:solidFill>
                <a:latin typeface="Calibri" pitchFamily="34" charset="0"/>
                <a:ea typeface="Calibri" pitchFamily="34" charset="-122"/>
                <a:cs typeface="Calibri" pitchFamily="34" charset="-120"/>
              </a:rPr>
              <a:t>(unit / component / integration)</a:t>
            </a:r>
            <a:endParaRPr lang="en-US" sz="950" dirty="0"/>
          </a:p>
        </p:txBody>
      </p:sp>
      <p:sp>
        <p:nvSpPr>
          <p:cNvPr id="96" name="Text 44">
            <a:extLst>
              <a:ext uri="{FF2B5EF4-FFF2-40B4-BE49-F238E27FC236}">
                <a16:creationId xmlns:a16="http://schemas.microsoft.com/office/drawing/2014/main" id="{D93DCAFD-083D-B50F-1CAA-80373CE6318C}"/>
              </a:ext>
            </a:extLst>
          </p:cNvPr>
          <p:cNvSpPr txBox="1"/>
          <p:nvPr/>
        </p:nvSpPr>
        <p:spPr>
          <a:xfrm>
            <a:off x="4550664" y="5623560"/>
            <a:ext cx="3087624" cy="201168"/>
          </a:xfrm>
          <a:prstGeom prst="rect">
            <a:avLst/>
          </a:prstGeom>
          <a:noFill/>
          <a:ln/>
        </p:spPr>
        <p:txBody>
          <a:bodyPr wrap="square" lIns="0" tIns="0" rIns="0" bIns="0" rtlCol="0" anchor="ctr"/>
          <a:lstStyle/>
          <a:p>
            <a:pPr marL="0" indent="0">
              <a:buNone/>
            </a:pPr>
            <a:r>
              <a:rPr lang="en-US" sz="800" b="1" kern="0" spc="100" dirty="0">
                <a:solidFill>
                  <a:srgbClr val="7FA8BA"/>
                </a:solidFill>
                <a:latin typeface="Calibri" pitchFamily="34" charset="0"/>
                <a:ea typeface="Calibri" pitchFamily="34" charset="-122"/>
                <a:cs typeface="Calibri" pitchFamily="34" charset="-120"/>
              </a:rPr>
              <a:t>RESULT</a:t>
            </a:r>
            <a:endParaRPr lang="en-US" sz="800" dirty="0"/>
          </a:p>
        </p:txBody>
      </p:sp>
      <p:sp>
        <p:nvSpPr>
          <p:cNvPr id="98" name="Text 45">
            <a:extLst>
              <a:ext uri="{FF2B5EF4-FFF2-40B4-BE49-F238E27FC236}">
                <a16:creationId xmlns:a16="http://schemas.microsoft.com/office/drawing/2014/main" id="{84B46AC9-AB2A-5BF8-ECF2-F808C5EA8CCA}"/>
              </a:ext>
            </a:extLst>
          </p:cNvPr>
          <p:cNvSpPr txBox="1"/>
          <p:nvPr/>
        </p:nvSpPr>
        <p:spPr>
          <a:xfrm>
            <a:off x="4550664" y="5806440"/>
            <a:ext cx="2538984" cy="457200"/>
          </a:xfrm>
          <a:prstGeom prst="rect">
            <a:avLst/>
          </a:prstGeom>
          <a:noFill/>
          <a:ln/>
        </p:spPr>
        <p:txBody>
          <a:bodyPr wrap="square" lIns="0" tIns="0" rIns="0" bIns="0" rtlCol="0" anchor="ctr"/>
          <a:lstStyle/>
          <a:p>
            <a:pPr marL="0" indent="0">
              <a:lnSpc>
                <a:spcPct val="105000"/>
              </a:lnSpc>
              <a:buNone/>
            </a:pPr>
            <a:r>
              <a:rPr lang="en-US" sz="950" b="1" dirty="0">
                <a:solidFill>
                  <a:srgbClr val="FFFFFF"/>
                </a:solidFill>
                <a:latin typeface="Calibri" pitchFamily="34" charset="0"/>
                <a:ea typeface="Calibri" pitchFamily="34" charset="-122"/>
                <a:cs typeface="Calibri" pitchFamily="34" charset="-120"/>
              </a:rPr>
              <a:t>112 passed, 0 failed, 0 skipped</a:t>
            </a:r>
            <a:endParaRPr lang="en-US" sz="950" dirty="0"/>
          </a:p>
        </p:txBody>
      </p:sp>
      <p:sp>
        <p:nvSpPr>
          <p:cNvPr id="100" name="Text 46">
            <a:extLst>
              <a:ext uri="{FF2B5EF4-FFF2-40B4-BE49-F238E27FC236}">
                <a16:creationId xmlns:a16="http://schemas.microsoft.com/office/drawing/2014/main" id="{9C8E3806-5596-0A10-51C4-F7675BBEB970}"/>
              </a:ext>
            </a:extLst>
          </p:cNvPr>
          <p:cNvSpPr txBox="1"/>
          <p:nvPr/>
        </p:nvSpPr>
        <p:spPr>
          <a:xfrm>
            <a:off x="7089648" y="5925312"/>
            <a:ext cx="594360" cy="274320"/>
          </a:xfrm>
          <a:prstGeom prst="rect">
            <a:avLst/>
          </a:prstGeom>
          <a:noFill/>
          <a:ln/>
        </p:spPr>
        <p:txBody>
          <a:bodyPr wrap="square" lIns="0" tIns="0" rIns="0" bIns="0" rtlCol="0" anchor="ctr"/>
          <a:lstStyle/>
          <a:p>
            <a:pPr marL="0" indent="0" algn="r">
              <a:buNone/>
            </a:pPr>
            <a:r>
              <a:rPr lang="en-US" sz="1000" b="1" dirty="0">
                <a:solidFill>
                  <a:srgbClr val="2E7D5B"/>
                </a:solidFill>
                <a:latin typeface="Calibri" pitchFamily="34" charset="0"/>
                <a:ea typeface="Calibri" pitchFamily="34" charset="-122"/>
                <a:cs typeface="Calibri" pitchFamily="34" charset="-120"/>
              </a:rPr>
              <a:t>PASS</a:t>
            </a:r>
            <a:endParaRPr lang="en-US" sz="1000" dirty="0"/>
          </a:p>
        </p:txBody>
      </p:sp>
      <p:sp>
        <p:nvSpPr>
          <p:cNvPr id="102" name="Shape 47">
            <a:extLst>
              <a:ext uri="{FF2B5EF4-FFF2-40B4-BE49-F238E27FC236}">
                <a16:creationId xmlns:a16="http://schemas.microsoft.com/office/drawing/2014/main" id="{F2070FCC-35BF-F086-C2A0-9270134E87E3}"/>
              </a:ext>
            </a:extLst>
          </p:cNvPr>
          <p:cNvSpPr/>
          <p:nvPr/>
        </p:nvSpPr>
        <p:spPr>
          <a:xfrm>
            <a:off x="8095488" y="3977640"/>
            <a:ext cx="3544824" cy="2331720"/>
          </a:xfrm>
          <a:prstGeom prst="roundRect">
            <a:avLst>
              <a:gd name="adj" fmla="val 2745"/>
            </a:avLst>
          </a:prstGeom>
          <a:solidFill>
            <a:srgbClr val="13293D"/>
          </a:solidFill>
          <a:ln/>
        </p:spPr>
        <p:txBody>
          <a:bodyPr/>
          <a:lstStyle/>
          <a:p>
            <a:endParaRPr lang="en-IN"/>
          </a:p>
        </p:txBody>
      </p:sp>
      <p:sp>
        <p:nvSpPr>
          <p:cNvPr id="104" name="Shape 48">
            <a:extLst>
              <a:ext uri="{FF2B5EF4-FFF2-40B4-BE49-F238E27FC236}">
                <a16:creationId xmlns:a16="http://schemas.microsoft.com/office/drawing/2014/main" id="{3F9CB2C1-9763-2F10-F9CF-6818DB75BC4B}"/>
              </a:ext>
            </a:extLst>
          </p:cNvPr>
          <p:cNvSpPr/>
          <p:nvPr/>
        </p:nvSpPr>
        <p:spPr>
          <a:xfrm>
            <a:off x="11292840" y="4178808"/>
            <a:ext cx="146304" cy="146304"/>
          </a:xfrm>
          <a:prstGeom prst="ellipse">
            <a:avLst/>
          </a:prstGeom>
          <a:solidFill>
            <a:srgbClr val="5A6169"/>
          </a:solidFill>
          <a:ln/>
        </p:spPr>
        <p:txBody>
          <a:bodyPr/>
          <a:lstStyle/>
          <a:p>
            <a:endParaRPr lang="en-IN"/>
          </a:p>
        </p:txBody>
      </p:sp>
      <p:sp>
        <p:nvSpPr>
          <p:cNvPr id="106" name="Text 49">
            <a:extLst>
              <a:ext uri="{FF2B5EF4-FFF2-40B4-BE49-F238E27FC236}">
                <a16:creationId xmlns:a16="http://schemas.microsoft.com/office/drawing/2014/main" id="{BA715E02-3A12-37D7-10B0-EBB5C726E566}"/>
              </a:ext>
            </a:extLst>
          </p:cNvPr>
          <p:cNvSpPr txBox="1"/>
          <p:nvPr/>
        </p:nvSpPr>
        <p:spPr>
          <a:xfrm>
            <a:off x="8324088" y="4142232"/>
            <a:ext cx="2904744" cy="365760"/>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Performance</a:t>
            </a:r>
            <a:endParaRPr lang="en-US" sz="1450" dirty="0"/>
          </a:p>
        </p:txBody>
      </p:sp>
      <p:sp>
        <p:nvSpPr>
          <p:cNvPr id="108" name="Shape 50">
            <a:extLst>
              <a:ext uri="{FF2B5EF4-FFF2-40B4-BE49-F238E27FC236}">
                <a16:creationId xmlns:a16="http://schemas.microsoft.com/office/drawing/2014/main" id="{1CE99CA6-ADDD-AE8E-8FB0-C4E34AF717BE}"/>
              </a:ext>
            </a:extLst>
          </p:cNvPr>
          <p:cNvSpPr/>
          <p:nvPr/>
        </p:nvSpPr>
        <p:spPr>
          <a:xfrm>
            <a:off x="8324088" y="4544568"/>
            <a:ext cx="3087624" cy="0"/>
          </a:xfrm>
          <a:prstGeom prst="line">
            <a:avLst/>
          </a:prstGeom>
          <a:noFill/>
          <a:ln w="9525">
            <a:solidFill>
              <a:srgbClr val="2C4A63"/>
            </a:solidFill>
            <a:prstDash val="solid"/>
          </a:ln>
        </p:spPr>
        <p:txBody>
          <a:bodyPr/>
          <a:lstStyle/>
          <a:p>
            <a:endParaRPr lang="en-IN"/>
          </a:p>
        </p:txBody>
      </p:sp>
      <p:sp>
        <p:nvSpPr>
          <p:cNvPr id="110" name="Text 51">
            <a:extLst>
              <a:ext uri="{FF2B5EF4-FFF2-40B4-BE49-F238E27FC236}">
                <a16:creationId xmlns:a16="http://schemas.microsoft.com/office/drawing/2014/main" id="{F3FF50A0-53B9-8E09-0E45-A8DACD9BB7D5}"/>
              </a:ext>
            </a:extLst>
          </p:cNvPr>
          <p:cNvSpPr txBox="1"/>
          <p:nvPr/>
        </p:nvSpPr>
        <p:spPr>
          <a:xfrm>
            <a:off x="8324088" y="4636008"/>
            <a:ext cx="3087624" cy="201168"/>
          </a:xfrm>
          <a:prstGeom prst="rect">
            <a:avLst/>
          </a:prstGeom>
          <a:noFill/>
          <a:ln/>
        </p:spPr>
        <p:txBody>
          <a:bodyPr wrap="square" lIns="0" tIns="0" rIns="0" bIns="0" rtlCol="0" anchor="ctr"/>
          <a:lstStyle/>
          <a:p>
            <a:pPr marL="0" indent="0">
              <a:buNone/>
            </a:pPr>
            <a:r>
              <a:rPr lang="en-US" sz="800" b="1" kern="0" spc="100" dirty="0">
                <a:solidFill>
                  <a:srgbClr val="7FA8BA"/>
                </a:solidFill>
                <a:latin typeface="Calibri" pitchFamily="34" charset="0"/>
                <a:ea typeface="Calibri" pitchFamily="34" charset="-122"/>
                <a:cs typeface="Calibri" pitchFamily="34" charset="-120"/>
              </a:rPr>
              <a:t>TESTED</a:t>
            </a:r>
            <a:endParaRPr lang="en-US" sz="800" dirty="0"/>
          </a:p>
        </p:txBody>
      </p:sp>
      <p:sp>
        <p:nvSpPr>
          <p:cNvPr id="112" name="Text 52">
            <a:extLst>
              <a:ext uri="{FF2B5EF4-FFF2-40B4-BE49-F238E27FC236}">
                <a16:creationId xmlns:a16="http://schemas.microsoft.com/office/drawing/2014/main" id="{096A13FE-31AC-BCCC-312D-2DE1E0BCB7E4}"/>
              </a:ext>
            </a:extLst>
          </p:cNvPr>
          <p:cNvSpPr txBox="1"/>
          <p:nvPr/>
        </p:nvSpPr>
        <p:spPr>
          <a:xfrm>
            <a:off x="8324088" y="4828032"/>
            <a:ext cx="3087624" cy="502920"/>
          </a:xfrm>
          <a:prstGeom prst="rect">
            <a:avLst/>
          </a:prstGeom>
          <a:noFill/>
          <a:ln/>
        </p:spPr>
        <p:txBody>
          <a:bodyPr wrap="square" lIns="0" tIns="0" rIns="0" bIns="0" rtlCol="0" anchor="ctr"/>
          <a:lstStyle/>
          <a:p>
            <a:pPr marL="0" indent="0">
              <a:lnSpc>
                <a:spcPct val="105000"/>
              </a:lnSpc>
              <a:buNone/>
            </a:pPr>
            <a:r>
              <a:rPr lang="en-US" sz="950" dirty="0">
                <a:solidFill>
                  <a:srgbClr val="E6EDF0"/>
                </a:solidFill>
                <a:latin typeface="Calibri" pitchFamily="34" charset="0"/>
                <a:ea typeface="Calibri" pitchFamily="34" charset="-122"/>
                <a:cs typeface="Calibri" pitchFamily="34" charset="-120"/>
              </a:rPr>
              <a:t>Throughput / load under stress</a:t>
            </a:r>
            <a:endParaRPr lang="en-US" sz="950" dirty="0"/>
          </a:p>
        </p:txBody>
      </p:sp>
      <p:sp>
        <p:nvSpPr>
          <p:cNvPr id="114" name="Text 53">
            <a:extLst>
              <a:ext uri="{FF2B5EF4-FFF2-40B4-BE49-F238E27FC236}">
                <a16:creationId xmlns:a16="http://schemas.microsoft.com/office/drawing/2014/main" id="{FF3566F9-240A-44B6-971E-CD9359629900}"/>
              </a:ext>
            </a:extLst>
          </p:cNvPr>
          <p:cNvSpPr txBox="1"/>
          <p:nvPr/>
        </p:nvSpPr>
        <p:spPr>
          <a:xfrm>
            <a:off x="8324088" y="5623560"/>
            <a:ext cx="3087624" cy="201168"/>
          </a:xfrm>
          <a:prstGeom prst="rect">
            <a:avLst/>
          </a:prstGeom>
          <a:noFill/>
          <a:ln/>
        </p:spPr>
        <p:txBody>
          <a:bodyPr wrap="square" lIns="0" tIns="0" rIns="0" bIns="0" rtlCol="0" anchor="ctr"/>
          <a:lstStyle/>
          <a:p>
            <a:pPr marL="0" indent="0">
              <a:buNone/>
            </a:pPr>
            <a:r>
              <a:rPr lang="en-US" sz="800" b="1" kern="0" spc="100" dirty="0">
                <a:solidFill>
                  <a:srgbClr val="7FA8BA"/>
                </a:solidFill>
                <a:latin typeface="Calibri" pitchFamily="34" charset="0"/>
                <a:ea typeface="Calibri" pitchFamily="34" charset="-122"/>
                <a:cs typeface="Calibri" pitchFamily="34" charset="-120"/>
              </a:rPr>
              <a:t>RESULT</a:t>
            </a:r>
            <a:endParaRPr lang="en-US" sz="800" dirty="0"/>
          </a:p>
        </p:txBody>
      </p:sp>
      <p:sp>
        <p:nvSpPr>
          <p:cNvPr id="116" name="Text 54">
            <a:extLst>
              <a:ext uri="{FF2B5EF4-FFF2-40B4-BE49-F238E27FC236}">
                <a16:creationId xmlns:a16="http://schemas.microsoft.com/office/drawing/2014/main" id="{934A8981-CD7D-2C60-3819-F8A6FD85A122}"/>
              </a:ext>
            </a:extLst>
          </p:cNvPr>
          <p:cNvSpPr txBox="1"/>
          <p:nvPr/>
        </p:nvSpPr>
        <p:spPr>
          <a:xfrm>
            <a:off x="8324088" y="5806440"/>
            <a:ext cx="2538984" cy="457200"/>
          </a:xfrm>
          <a:prstGeom prst="rect">
            <a:avLst/>
          </a:prstGeom>
          <a:noFill/>
          <a:ln/>
        </p:spPr>
        <p:txBody>
          <a:bodyPr wrap="square" lIns="0" tIns="0" rIns="0" bIns="0" rtlCol="0" anchor="ctr"/>
          <a:lstStyle/>
          <a:p>
            <a:pPr marL="0" indent="0">
              <a:lnSpc>
                <a:spcPct val="105000"/>
              </a:lnSpc>
              <a:buNone/>
            </a:pPr>
            <a:r>
              <a:rPr lang="en-US" sz="950" b="1" dirty="0">
                <a:solidFill>
                  <a:srgbClr val="FFFFFF"/>
                </a:solidFill>
                <a:latin typeface="Calibri" pitchFamily="34" charset="0"/>
                <a:ea typeface="Calibri" pitchFamily="34" charset="-122"/>
                <a:cs typeface="Calibri" pitchFamily="34" charset="-120"/>
              </a:rPr>
              <a:t>Not quantitatively benchmarked — functional only</a:t>
            </a:r>
            <a:endParaRPr lang="en-US" sz="950" dirty="0"/>
          </a:p>
        </p:txBody>
      </p:sp>
      <p:sp>
        <p:nvSpPr>
          <p:cNvPr id="118" name="Text 55">
            <a:extLst>
              <a:ext uri="{FF2B5EF4-FFF2-40B4-BE49-F238E27FC236}">
                <a16:creationId xmlns:a16="http://schemas.microsoft.com/office/drawing/2014/main" id="{673651C2-7AC3-9407-5F81-EC7112609105}"/>
              </a:ext>
            </a:extLst>
          </p:cNvPr>
          <p:cNvSpPr txBox="1"/>
          <p:nvPr/>
        </p:nvSpPr>
        <p:spPr>
          <a:xfrm>
            <a:off x="10863072" y="5925312"/>
            <a:ext cx="594360" cy="274320"/>
          </a:xfrm>
          <a:prstGeom prst="rect">
            <a:avLst/>
          </a:prstGeom>
          <a:noFill/>
          <a:ln/>
        </p:spPr>
        <p:txBody>
          <a:bodyPr wrap="square" lIns="0" tIns="0" rIns="0" bIns="0" rtlCol="0" anchor="ctr"/>
          <a:lstStyle/>
          <a:p>
            <a:pPr marL="0" indent="0" algn="r">
              <a:buNone/>
            </a:pPr>
            <a:r>
              <a:rPr lang="en-US" sz="1000" b="1" dirty="0">
                <a:solidFill>
                  <a:srgbClr val="5A6169"/>
                </a:solidFill>
                <a:latin typeface="Calibri" pitchFamily="34" charset="0"/>
                <a:ea typeface="Calibri" pitchFamily="34" charset="-122"/>
                <a:cs typeface="Calibri" pitchFamily="34" charset="-120"/>
              </a:rPr>
              <a:t>N/B</a:t>
            </a:r>
            <a:endParaRPr lang="en-US" sz="1000" dirty="0"/>
          </a:p>
        </p:txBody>
      </p:sp>
      <p:sp>
        <p:nvSpPr>
          <p:cNvPr id="120" name="Text 56">
            <a:extLst>
              <a:ext uri="{FF2B5EF4-FFF2-40B4-BE49-F238E27FC236}">
                <a16:creationId xmlns:a16="http://schemas.microsoft.com/office/drawing/2014/main" id="{628CD8BB-E171-F40B-E2B1-5D29D68EF8EB}"/>
              </a:ext>
            </a:extLst>
          </p:cNvPr>
          <p:cNvSpPr txBox="1"/>
          <p:nvPr/>
        </p:nvSpPr>
        <p:spPr>
          <a:xfrm>
            <a:off x="548640" y="6492240"/>
            <a:ext cx="7315200" cy="274320"/>
          </a:xfrm>
          <a:prstGeom prst="rect">
            <a:avLst/>
          </a:prstGeom>
          <a:noFill/>
          <a:ln/>
        </p:spPr>
        <p:txBody>
          <a:bodyPr wrap="square" lIns="0" tIns="0" rIns="0" bIns="0" rtlCol="0" anchor="ctr"/>
          <a:lstStyle/>
          <a:p>
            <a:pPr marL="0" indent="0">
              <a:buNone/>
            </a:pPr>
            <a:r>
              <a:rPr lang="en-US" sz="950" dirty="0">
                <a:solidFill>
                  <a:srgbClr val="5A6169"/>
                </a:solidFill>
                <a:latin typeface="Calibri" pitchFamily="34" charset="0"/>
                <a:ea typeface="Calibri" pitchFamily="34" charset="-122"/>
                <a:cs typeface="Calibri" pitchFamily="34" charset="-120"/>
              </a:rPr>
              <a:t>Network Telemetry &amp; Real-Time Network Performance Monitoring System</a:t>
            </a:r>
            <a:endParaRPr lang="en-US" sz="950" dirty="0"/>
          </a:p>
        </p:txBody>
      </p:sp>
      <p:sp>
        <p:nvSpPr>
          <p:cNvPr id="122" name="Text 57">
            <a:extLst>
              <a:ext uri="{FF2B5EF4-FFF2-40B4-BE49-F238E27FC236}">
                <a16:creationId xmlns:a16="http://schemas.microsoft.com/office/drawing/2014/main" id="{72EE950A-DDE8-5DC3-4AA5-8427218295DA}"/>
              </a:ext>
            </a:extLst>
          </p:cNvPr>
          <p:cNvSpPr txBox="1"/>
          <p:nvPr/>
        </p:nvSpPr>
        <p:spPr>
          <a:xfrm>
            <a:off x="11475720" y="6492240"/>
            <a:ext cx="640080" cy="274320"/>
          </a:xfrm>
          <a:prstGeom prst="rect">
            <a:avLst/>
          </a:prstGeom>
          <a:noFill/>
          <a:ln/>
        </p:spPr>
        <p:txBody>
          <a:bodyPr wrap="square" lIns="0" tIns="0" rIns="0" bIns="0" rtlCol="0" anchor="ctr"/>
          <a:lstStyle/>
          <a:p>
            <a:pPr marL="0" indent="0" algn="r">
              <a:buNone/>
            </a:pPr>
            <a:r>
              <a:rPr lang="en-US" sz="1000" dirty="0">
                <a:solidFill>
                  <a:srgbClr val="5A6169"/>
                </a:solidFill>
                <a:latin typeface="Calibri" pitchFamily="34" charset="0"/>
                <a:ea typeface="Calibri" pitchFamily="34" charset="-122"/>
                <a:cs typeface="Calibri" pitchFamily="34" charset="-120"/>
              </a:rPr>
              <a:t>04</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19" name="Text 0">
            <a:extLst>
              <a:ext uri="{FF2B5EF4-FFF2-40B4-BE49-F238E27FC236}">
                <a16:creationId xmlns:a16="http://schemas.microsoft.com/office/drawing/2014/main" id="{63366487-36F7-D5CD-7A2F-4BDFFD8FAE54}"/>
              </a:ext>
            </a:extLst>
          </p:cNvPr>
          <p:cNvSpPr txBox="1"/>
          <p:nvPr/>
        </p:nvSpPr>
        <p:spPr>
          <a:xfrm>
            <a:off x="548640" y="292608"/>
            <a:ext cx="8229600" cy="274320"/>
          </a:xfrm>
          <a:prstGeom prst="rect">
            <a:avLst/>
          </a:prstGeom>
          <a:noFill/>
          <a:ln/>
        </p:spPr>
        <p:txBody>
          <a:bodyPr wrap="square" lIns="0" tIns="0" rIns="0" bIns="0" rtlCol="0" anchor="ctr"/>
          <a:lstStyle/>
          <a:p>
            <a:pPr marL="0" indent="0">
              <a:buNone/>
            </a:pPr>
            <a:r>
              <a:rPr lang="en-US" sz="1200" b="1" kern="0" spc="200" dirty="0">
                <a:solidFill>
                  <a:srgbClr val="0E6E8C"/>
                </a:solidFill>
                <a:latin typeface="Calibri" pitchFamily="34" charset="0"/>
                <a:ea typeface="Calibri" pitchFamily="34" charset="-122"/>
                <a:cs typeface="Calibri" pitchFamily="34" charset="-120"/>
              </a:rPr>
              <a:t>05 — REAL ENGINEERING, REAL DEBUGGING</a:t>
            </a:r>
            <a:endParaRPr lang="en-US" sz="1200" dirty="0"/>
          </a:p>
        </p:txBody>
      </p:sp>
      <p:sp>
        <p:nvSpPr>
          <p:cNvPr id="21" name="Text 1">
            <a:extLst>
              <a:ext uri="{FF2B5EF4-FFF2-40B4-BE49-F238E27FC236}">
                <a16:creationId xmlns:a16="http://schemas.microsoft.com/office/drawing/2014/main" id="{B93AF2E2-41C6-E01B-B675-44C852127E4A}"/>
              </a:ext>
            </a:extLst>
          </p:cNvPr>
          <p:cNvSpPr txBox="1"/>
          <p:nvPr/>
        </p:nvSpPr>
        <p:spPr>
          <a:xfrm>
            <a:off x="548640" y="566928"/>
            <a:ext cx="10515600" cy="640080"/>
          </a:xfrm>
          <a:prstGeom prst="rect">
            <a:avLst/>
          </a:prstGeom>
          <a:noFill/>
          <a:ln/>
        </p:spPr>
        <p:txBody>
          <a:bodyPr wrap="square" lIns="0" tIns="0" rIns="0" bIns="0" rtlCol="0" anchor="ctr"/>
          <a:lstStyle/>
          <a:p>
            <a:pPr marL="0" indent="0">
              <a:buNone/>
            </a:pPr>
            <a:r>
              <a:rPr lang="en-US" sz="3000" b="1" dirty="0">
                <a:solidFill>
                  <a:srgbClr val="1A1A1A"/>
                </a:solidFill>
                <a:latin typeface="Cambria" pitchFamily="34" charset="0"/>
                <a:ea typeface="Cambria" pitchFamily="34" charset="-122"/>
                <a:cs typeface="Cambria" pitchFamily="34" charset="-120"/>
              </a:rPr>
              <a:t>Challenges Faced</a:t>
            </a:r>
            <a:endParaRPr lang="en-US" sz="3000" dirty="0"/>
          </a:p>
        </p:txBody>
      </p:sp>
      <p:sp>
        <p:nvSpPr>
          <p:cNvPr id="23" name="Text 2">
            <a:extLst>
              <a:ext uri="{FF2B5EF4-FFF2-40B4-BE49-F238E27FC236}">
                <a16:creationId xmlns:a16="http://schemas.microsoft.com/office/drawing/2014/main" id="{03A28EB2-71D1-3181-53FC-D5FA65AA5459}"/>
              </a:ext>
            </a:extLst>
          </p:cNvPr>
          <p:cNvSpPr txBox="1"/>
          <p:nvPr/>
        </p:nvSpPr>
        <p:spPr>
          <a:xfrm>
            <a:off x="548640" y="1417320"/>
            <a:ext cx="7772400" cy="256032"/>
          </a:xfrm>
          <a:prstGeom prst="rect">
            <a:avLst/>
          </a:prstGeom>
          <a:noFill/>
          <a:ln/>
        </p:spPr>
        <p:txBody>
          <a:bodyPr wrap="square" lIns="0" tIns="0" rIns="0" bIns="0" rtlCol="0" anchor="ctr"/>
          <a:lstStyle/>
          <a:p>
            <a:pPr marL="0" indent="0">
              <a:buNone/>
            </a:pPr>
            <a:r>
              <a:rPr lang="en-US" sz="1200" b="1" dirty="0">
                <a:solidFill>
                  <a:srgbClr val="1A1A1A"/>
                </a:solidFill>
                <a:latin typeface="Calibri" pitchFamily="34" charset="0"/>
                <a:ea typeface="Calibri" pitchFamily="34" charset="-122"/>
                <a:cs typeface="Calibri" pitchFamily="34" charset="-120"/>
              </a:rPr>
              <a:t>GNS3 Networking — Isolated Virtual Networks</a:t>
            </a:r>
            <a:endParaRPr lang="en-US" sz="1200" dirty="0"/>
          </a:p>
        </p:txBody>
      </p:sp>
      <p:sp>
        <p:nvSpPr>
          <p:cNvPr id="25" name="Shape 3">
            <a:extLst>
              <a:ext uri="{FF2B5EF4-FFF2-40B4-BE49-F238E27FC236}">
                <a16:creationId xmlns:a16="http://schemas.microsoft.com/office/drawing/2014/main" id="{0B2B1381-7048-6CD9-21E5-38DC23BD6D2A}"/>
              </a:ext>
            </a:extLst>
          </p:cNvPr>
          <p:cNvSpPr/>
          <p:nvPr/>
        </p:nvSpPr>
        <p:spPr>
          <a:xfrm>
            <a:off x="548640" y="1746504"/>
            <a:ext cx="2532888" cy="1097280"/>
          </a:xfrm>
          <a:prstGeom prst="roundRect">
            <a:avLst>
              <a:gd name="adj" fmla="val 4167"/>
            </a:avLst>
          </a:prstGeom>
          <a:solidFill>
            <a:srgbClr val="F4F6F7"/>
          </a:solidFill>
          <a:ln/>
        </p:spPr>
        <p:txBody>
          <a:bodyPr/>
          <a:lstStyle/>
          <a:p>
            <a:endParaRPr lang="en-IN"/>
          </a:p>
        </p:txBody>
      </p:sp>
      <p:sp>
        <p:nvSpPr>
          <p:cNvPr id="27" name="Shape 4">
            <a:extLst>
              <a:ext uri="{FF2B5EF4-FFF2-40B4-BE49-F238E27FC236}">
                <a16:creationId xmlns:a16="http://schemas.microsoft.com/office/drawing/2014/main" id="{26D7B73D-4A44-D88B-6A8F-C54192787F5B}"/>
              </a:ext>
            </a:extLst>
          </p:cNvPr>
          <p:cNvSpPr/>
          <p:nvPr/>
        </p:nvSpPr>
        <p:spPr>
          <a:xfrm>
            <a:off x="548640" y="1746504"/>
            <a:ext cx="2532888" cy="45720"/>
          </a:xfrm>
          <a:prstGeom prst="rect">
            <a:avLst/>
          </a:prstGeom>
          <a:solidFill>
            <a:srgbClr val="B23A2E"/>
          </a:solidFill>
          <a:ln/>
        </p:spPr>
        <p:txBody>
          <a:bodyPr/>
          <a:lstStyle/>
          <a:p>
            <a:endParaRPr lang="en-IN"/>
          </a:p>
        </p:txBody>
      </p:sp>
      <p:sp>
        <p:nvSpPr>
          <p:cNvPr id="29" name="Text 5">
            <a:extLst>
              <a:ext uri="{FF2B5EF4-FFF2-40B4-BE49-F238E27FC236}">
                <a16:creationId xmlns:a16="http://schemas.microsoft.com/office/drawing/2014/main" id="{08C7405F-A852-54FA-211B-2AB6A461FACD}"/>
              </a:ext>
            </a:extLst>
          </p:cNvPr>
          <p:cNvSpPr txBox="1"/>
          <p:nvPr/>
        </p:nvSpPr>
        <p:spPr>
          <a:xfrm>
            <a:off x="658368" y="1837944"/>
            <a:ext cx="2313432" cy="182880"/>
          </a:xfrm>
          <a:prstGeom prst="rect">
            <a:avLst/>
          </a:prstGeom>
          <a:noFill/>
          <a:ln/>
        </p:spPr>
        <p:txBody>
          <a:bodyPr wrap="square" lIns="0" tIns="0" rIns="0" bIns="0" rtlCol="0" anchor="ctr"/>
          <a:lstStyle/>
          <a:p>
            <a:pPr marL="0" indent="0">
              <a:buNone/>
            </a:pPr>
            <a:r>
              <a:rPr lang="en-US" sz="750" b="1" kern="0" spc="50" dirty="0">
                <a:solidFill>
                  <a:srgbClr val="B23A2E"/>
                </a:solidFill>
                <a:latin typeface="Calibri" pitchFamily="34" charset="0"/>
                <a:ea typeface="Calibri" pitchFamily="34" charset="-122"/>
                <a:cs typeface="Calibri" pitchFamily="34" charset="-120"/>
              </a:rPr>
              <a:t>PROBLEM</a:t>
            </a:r>
            <a:endParaRPr lang="en-US" sz="750" dirty="0"/>
          </a:p>
        </p:txBody>
      </p:sp>
      <p:sp>
        <p:nvSpPr>
          <p:cNvPr id="31" name="Text 6">
            <a:extLst>
              <a:ext uri="{FF2B5EF4-FFF2-40B4-BE49-F238E27FC236}">
                <a16:creationId xmlns:a16="http://schemas.microsoft.com/office/drawing/2014/main" id="{04BB01DD-3693-13F5-12EF-65A86C26A1B0}"/>
              </a:ext>
            </a:extLst>
          </p:cNvPr>
          <p:cNvSpPr txBox="1"/>
          <p:nvPr/>
        </p:nvSpPr>
        <p:spPr>
          <a:xfrm>
            <a:off x="658368" y="2020824"/>
            <a:ext cx="2313432" cy="731520"/>
          </a:xfrm>
          <a:prstGeom prst="rect">
            <a:avLst/>
          </a:prstGeom>
          <a:noFill/>
          <a:ln/>
        </p:spPr>
        <p:txBody>
          <a:bodyPr wrap="square" lIns="0" tIns="0" rIns="0" bIns="0" rtlCol="0" anchor="t"/>
          <a:lstStyle/>
          <a:p>
            <a:pPr marL="0" indent="0">
              <a:lnSpc>
                <a:spcPct val="108000"/>
              </a:lnSpc>
              <a:buNone/>
            </a:pPr>
            <a:r>
              <a:rPr lang="en-US" sz="830" dirty="0">
                <a:solidFill>
                  <a:srgbClr val="1A1A1A"/>
                </a:solidFill>
                <a:latin typeface="Calibri" pitchFamily="34" charset="0"/>
                <a:ea typeface="Calibri" pitchFamily="34" charset="-122"/>
                <a:cs typeface="Calibri" pitchFamily="34" charset="-120"/>
              </a:rPr>
              <a:t>GNS3 VM management network and in-project router topology unconnected, despite sharing a subnet</a:t>
            </a:r>
            <a:endParaRPr lang="en-US" sz="830" dirty="0"/>
          </a:p>
        </p:txBody>
      </p:sp>
      <p:sp>
        <p:nvSpPr>
          <p:cNvPr id="33" name="Shape 7">
            <a:extLst>
              <a:ext uri="{FF2B5EF4-FFF2-40B4-BE49-F238E27FC236}">
                <a16:creationId xmlns:a16="http://schemas.microsoft.com/office/drawing/2014/main" id="{1C8E6B06-37F0-64E1-35FC-AF28130A1DD4}"/>
              </a:ext>
            </a:extLst>
          </p:cNvPr>
          <p:cNvSpPr/>
          <p:nvPr/>
        </p:nvSpPr>
        <p:spPr>
          <a:xfrm>
            <a:off x="3099816" y="2295144"/>
            <a:ext cx="283464" cy="0"/>
          </a:xfrm>
          <a:prstGeom prst="line">
            <a:avLst/>
          </a:prstGeom>
          <a:noFill/>
          <a:ln w="15875">
            <a:solidFill>
              <a:srgbClr val="5A6169"/>
            </a:solidFill>
            <a:prstDash val="solid"/>
            <a:tailEnd type="triangle"/>
          </a:ln>
        </p:spPr>
        <p:txBody>
          <a:bodyPr/>
          <a:lstStyle/>
          <a:p>
            <a:endParaRPr lang="en-IN"/>
          </a:p>
        </p:txBody>
      </p:sp>
      <p:sp>
        <p:nvSpPr>
          <p:cNvPr id="35" name="Shape 8">
            <a:extLst>
              <a:ext uri="{FF2B5EF4-FFF2-40B4-BE49-F238E27FC236}">
                <a16:creationId xmlns:a16="http://schemas.microsoft.com/office/drawing/2014/main" id="{169C68A0-F7D6-491A-DAF5-F78C35BB4B77}"/>
              </a:ext>
            </a:extLst>
          </p:cNvPr>
          <p:cNvSpPr/>
          <p:nvPr/>
        </p:nvSpPr>
        <p:spPr>
          <a:xfrm>
            <a:off x="3401568" y="1746504"/>
            <a:ext cx="2532888" cy="1097280"/>
          </a:xfrm>
          <a:prstGeom prst="roundRect">
            <a:avLst>
              <a:gd name="adj" fmla="val 4167"/>
            </a:avLst>
          </a:prstGeom>
          <a:solidFill>
            <a:srgbClr val="F4F6F7"/>
          </a:solidFill>
          <a:ln/>
        </p:spPr>
        <p:txBody>
          <a:bodyPr/>
          <a:lstStyle/>
          <a:p>
            <a:endParaRPr lang="en-IN"/>
          </a:p>
        </p:txBody>
      </p:sp>
      <p:sp>
        <p:nvSpPr>
          <p:cNvPr id="37" name="Shape 9">
            <a:extLst>
              <a:ext uri="{FF2B5EF4-FFF2-40B4-BE49-F238E27FC236}">
                <a16:creationId xmlns:a16="http://schemas.microsoft.com/office/drawing/2014/main" id="{71CC94FB-8680-3CB0-F596-F2E37B707EFD}"/>
              </a:ext>
            </a:extLst>
          </p:cNvPr>
          <p:cNvSpPr/>
          <p:nvPr/>
        </p:nvSpPr>
        <p:spPr>
          <a:xfrm>
            <a:off x="3401568" y="1746504"/>
            <a:ext cx="2532888" cy="45720"/>
          </a:xfrm>
          <a:prstGeom prst="rect">
            <a:avLst/>
          </a:prstGeom>
          <a:solidFill>
            <a:srgbClr val="C07A1E"/>
          </a:solidFill>
          <a:ln/>
        </p:spPr>
        <p:txBody>
          <a:bodyPr/>
          <a:lstStyle/>
          <a:p>
            <a:endParaRPr lang="en-IN"/>
          </a:p>
        </p:txBody>
      </p:sp>
      <p:sp>
        <p:nvSpPr>
          <p:cNvPr id="39" name="Text 10">
            <a:extLst>
              <a:ext uri="{FF2B5EF4-FFF2-40B4-BE49-F238E27FC236}">
                <a16:creationId xmlns:a16="http://schemas.microsoft.com/office/drawing/2014/main" id="{58766760-33BB-6BD7-31E3-EBBA207A1262}"/>
              </a:ext>
            </a:extLst>
          </p:cNvPr>
          <p:cNvSpPr txBox="1"/>
          <p:nvPr/>
        </p:nvSpPr>
        <p:spPr>
          <a:xfrm>
            <a:off x="3511296" y="1837944"/>
            <a:ext cx="2313432" cy="182880"/>
          </a:xfrm>
          <a:prstGeom prst="rect">
            <a:avLst/>
          </a:prstGeom>
          <a:noFill/>
          <a:ln/>
        </p:spPr>
        <p:txBody>
          <a:bodyPr wrap="square" lIns="0" tIns="0" rIns="0" bIns="0" rtlCol="0" anchor="ctr"/>
          <a:lstStyle/>
          <a:p>
            <a:pPr marL="0" indent="0">
              <a:buNone/>
            </a:pPr>
            <a:r>
              <a:rPr lang="en-US" sz="750" b="1" kern="0" spc="50" dirty="0">
                <a:solidFill>
                  <a:srgbClr val="C07A1E"/>
                </a:solidFill>
                <a:latin typeface="Calibri" pitchFamily="34" charset="0"/>
                <a:ea typeface="Calibri" pitchFamily="34" charset="-122"/>
                <a:cs typeface="Calibri" pitchFamily="34" charset="-120"/>
              </a:rPr>
              <a:t>INVESTIGATION</a:t>
            </a:r>
            <a:endParaRPr lang="en-US" sz="750" dirty="0"/>
          </a:p>
        </p:txBody>
      </p:sp>
      <p:sp>
        <p:nvSpPr>
          <p:cNvPr id="41" name="Text 11">
            <a:extLst>
              <a:ext uri="{FF2B5EF4-FFF2-40B4-BE49-F238E27FC236}">
                <a16:creationId xmlns:a16="http://schemas.microsoft.com/office/drawing/2014/main" id="{D7764F22-6706-799D-DFA9-A7A03A1F81F8}"/>
              </a:ext>
            </a:extLst>
          </p:cNvPr>
          <p:cNvSpPr txBox="1"/>
          <p:nvPr/>
        </p:nvSpPr>
        <p:spPr>
          <a:xfrm>
            <a:off x="3511296" y="2020824"/>
            <a:ext cx="2313432" cy="731520"/>
          </a:xfrm>
          <a:prstGeom prst="rect">
            <a:avLst/>
          </a:prstGeom>
          <a:noFill/>
          <a:ln/>
        </p:spPr>
        <p:txBody>
          <a:bodyPr wrap="square" lIns="0" tIns="0" rIns="0" bIns="0" rtlCol="0" anchor="t"/>
          <a:lstStyle/>
          <a:p>
            <a:pPr marL="0" indent="0">
              <a:lnSpc>
                <a:spcPct val="108000"/>
              </a:lnSpc>
              <a:buNone/>
            </a:pPr>
            <a:r>
              <a:rPr lang="en-US" sz="830" dirty="0">
                <a:solidFill>
                  <a:srgbClr val="1A1A1A"/>
                </a:solidFill>
                <a:latin typeface="Calibri" pitchFamily="34" charset="0"/>
                <a:ea typeface="Calibri" pitchFamily="34" charset="-122"/>
                <a:cs typeface="Calibri" pitchFamily="34" charset="-120"/>
              </a:rPr>
              <a:t>Pinged from both directions — confirmed neither side had an actual L2 path to the other</a:t>
            </a:r>
            <a:endParaRPr lang="en-US" sz="830" dirty="0"/>
          </a:p>
        </p:txBody>
      </p:sp>
      <p:sp>
        <p:nvSpPr>
          <p:cNvPr id="43" name="Shape 12">
            <a:extLst>
              <a:ext uri="{FF2B5EF4-FFF2-40B4-BE49-F238E27FC236}">
                <a16:creationId xmlns:a16="http://schemas.microsoft.com/office/drawing/2014/main" id="{7506C365-E183-B449-76B0-84A20C2024E2}"/>
              </a:ext>
            </a:extLst>
          </p:cNvPr>
          <p:cNvSpPr/>
          <p:nvPr/>
        </p:nvSpPr>
        <p:spPr>
          <a:xfrm>
            <a:off x="5952744" y="2295144"/>
            <a:ext cx="283464" cy="0"/>
          </a:xfrm>
          <a:prstGeom prst="line">
            <a:avLst/>
          </a:prstGeom>
          <a:noFill/>
          <a:ln w="15875">
            <a:solidFill>
              <a:srgbClr val="5A6169"/>
            </a:solidFill>
            <a:prstDash val="solid"/>
            <a:tailEnd type="triangle"/>
          </a:ln>
        </p:spPr>
        <p:txBody>
          <a:bodyPr/>
          <a:lstStyle/>
          <a:p>
            <a:endParaRPr lang="en-IN"/>
          </a:p>
        </p:txBody>
      </p:sp>
      <p:sp>
        <p:nvSpPr>
          <p:cNvPr id="45" name="Shape 13">
            <a:extLst>
              <a:ext uri="{FF2B5EF4-FFF2-40B4-BE49-F238E27FC236}">
                <a16:creationId xmlns:a16="http://schemas.microsoft.com/office/drawing/2014/main" id="{68F371DA-1DD5-15EB-084C-1490A0C2A0A7}"/>
              </a:ext>
            </a:extLst>
          </p:cNvPr>
          <p:cNvSpPr/>
          <p:nvPr/>
        </p:nvSpPr>
        <p:spPr>
          <a:xfrm>
            <a:off x="6254496" y="1746504"/>
            <a:ext cx="2532888" cy="1097280"/>
          </a:xfrm>
          <a:prstGeom prst="roundRect">
            <a:avLst>
              <a:gd name="adj" fmla="val 4167"/>
            </a:avLst>
          </a:prstGeom>
          <a:solidFill>
            <a:srgbClr val="F4F6F7"/>
          </a:solidFill>
          <a:ln/>
        </p:spPr>
        <p:txBody>
          <a:bodyPr/>
          <a:lstStyle/>
          <a:p>
            <a:endParaRPr lang="en-IN"/>
          </a:p>
        </p:txBody>
      </p:sp>
      <p:sp>
        <p:nvSpPr>
          <p:cNvPr id="47" name="Shape 14">
            <a:extLst>
              <a:ext uri="{FF2B5EF4-FFF2-40B4-BE49-F238E27FC236}">
                <a16:creationId xmlns:a16="http://schemas.microsoft.com/office/drawing/2014/main" id="{7EDC6ED0-3831-6361-D049-04F360BB590B}"/>
              </a:ext>
            </a:extLst>
          </p:cNvPr>
          <p:cNvSpPr/>
          <p:nvPr/>
        </p:nvSpPr>
        <p:spPr>
          <a:xfrm>
            <a:off x="6254496" y="1746504"/>
            <a:ext cx="2532888" cy="45720"/>
          </a:xfrm>
          <a:prstGeom prst="rect">
            <a:avLst/>
          </a:prstGeom>
          <a:solidFill>
            <a:srgbClr val="0E6E8C"/>
          </a:solidFill>
          <a:ln/>
        </p:spPr>
        <p:txBody>
          <a:bodyPr/>
          <a:lstStyle/>
          <a:p>
            <a:endParaRPr lang="en-IN"/>
          </a:p>
        </p:txBody>
      </p:sp>
      <p:sp>
        <p:nvSpPr>
          <p:cNvPr id="49" name="Text 15">
            <a:extLst>
              <a:ext uri="{FF2B5EF4-FFF2-40B4-BE49-F238E27FC236}">
                <a16:creationId xmlns:a16="http://schemas.microsoft.com/office/drawing/2014/main" id="{11086C01-C3F1-B1BA-B3F7-09551D30C520}"/>
              </a:ext>
            </a:extLst>
          </p:cNvPr>
          <p:cNvSpPr txBox="1"/>
          <p:nvPr/>
        </p:nvSpPr>
        <p:spPr>
          <a:xfrm>
            <a:off x="6364224" y="1837944"/>
            <a:ext cx="2313432" cy="182880"/>
          </a:xfrm>
          <a:prstGeom prst="rect">
            <a:avLst/>
          </a:prstGeom>
          <a:noFill/>
          <a:ln/>
        </p:spPr>
        <p:txBody>
          <a:bodyPr wrap="square" lIns="0" tIns="0" rIns="0" bIns="0" rtlCol="0" anchor="ctr"/>
          <a:lstStyle/>
          <a:p>
            <a:pPr marL="0" indent="0">
              <a:buNone/>
            </a:pPr>
            <a:r>
              <a:rPr lang="en-US" sz="750" b="1" kern="0" spc="50" dirty="0">
                <a:solidFill>
                  <a:srgbClr val="0E6E8C"/>
                </a:solidFill>
                <a:latin typeface="Calibri" pitchFamily="34" charset="0"/>
                <a:ea typeface="Calibri" pitchFamily="34" charset="-122"/>
                <a:cs typeface="Calibri" pitchFamily="34" charset="-120"/>
              </a:rPr>
              <a:t>FIX</a:t>
            </a:r>
            <a:endParaRPr lang="en-US" sz="750" dirty="0"/>
          </a:p>
        </p:txBody>
      </p:sp>
      <p:sp>
        <p:nvSpPr>
          <p:cNvPr id="51" name="Text 16">
            <a:extLst>
              <a:ext uri="{FF2B5EF4-FFF2-40B4-BE49-F238E27FC236}">
                <a16:creationId xmlns:a16="http://schemas.microsoft.com/office/drawing/2014/main" id="{D30236B2-F641-7DB2-7274-10D110F0BB39}"/>
              </a:ext>
            </a:extLst>
          </p:cNvPr>
          <p:cNvSpPr txBox="1"/>
          <p:nvPr/>
        </p:nvSpPr>
        <p:spPr>
          <a:xfrm>
            <a:off x="6364224" y="2020824"/>
            <a:ext cx="2313432" cy="731520"/>
          </a:xfrm>
          <a:prstGeom prst="rect">
            <a:avLst/>
          </a:prstGeom>
          <a:noFill/>
          <a:ln/>
        </p:spPr>
        <p:txBody>
          <a:bodyPr wrap="square" lIns="0" tIns="0" rIns="0" bIns="0" rtlCol="0" anchor="t"/>
          <a:lstStyle/>
          <a:p>
            <a:pPr marL="0" indent="0">
              <a:lnSpc>
                <a:spcPct val="108000"/>
              </a:lnSpc>
              <a:buNone/>
            </a:pPr>
            <a:r>
              <a:rPr lang="en-US" sz="830" dirty="0">
                <a:solidFill>
                  <a:srgbClr val="1A1A1A"/>
                </a:solidFill>
                <a:latin typeface="Calibri" pitchFamily="34" charset="0"/>
                <a:ea typeface="Calibri" pitchFamily="34" charset="-122"/>
                <a:cs typeface="Calibri" pitchFamily="34" charset="-120"/>
              </a:rPr>
              <a:t>Bridged a dedicated third NIC into the topology via a GNS3 Cloud node</a:t>
            </a:r>
            <a:endParaRPr lang="en-US" sz="830" dirty="0"/>
          </a:p>
        </p:txBody>
      </p:sp>
      <p:sp>
        <p:nvSpPr>
          <p:cNvPr id="53" name="Shape 17">
            <a:extLst>
              <a:ext uri="{FF2B5EF4-FFF2-40B4-BE49-F238E27FC236}">
                <a16:creationId xmlns:a16="http://schemas.microsoft.com/office/drawing/2014/main" id="{EE593A34-5794-764D-159A-45AFEF1938EB}"/>
              </a:ext>
            </a:extLst>
          </p:cNvPr>
          <p:cNvSpPr/>
          <p:nvPr/>
        </p:nvSpPr>
        <p:spPr>
          <a:xfrm>
            <a:off x="8805672" y="2295144"/>
            <a:ext cx="283464" cy="0"/>
          </a:xfrm>
          <a:prstGeom prst="line">
            <a:avLst/>
          </a:prstGeom>
          <a:noFill/>
          <a:ln w="15875">
            <a:solidFill>
              <a:srgbClr val="5A6169"/>
            </a:solidFill>
            <a:prstDash val="solid"/>
            <a:tailEnd type="triangle"/>
          </a:ln>
        </p:spPr>
        <p:txBody>
          <a:bodyPr/>
          <a:lstStyle/>
          <a:p>
            <a:endParaRPr lang="en-IN"/>
          </a:p>
        </p:txBody>
      </p:sp>
      <p:sp>
        <p:nvSpPr>
          <p:cNvPr id="55" name="Shape 18">
            <a:extLst>
              <a:ext uri="{FF2B5EF4-FFF2-40B4-BE49-F238E27FC236}">
                <a16:creationId xmlns:a16="http://schemas.microsoft.com/office/drawing/2014/main" id="{755C38CB-2CC9-8DDC-B2DA-16FCFAC746F7}"/>
              </a:ext>
            </a:extLst>
          </p:cNvPr>
          <p:cNvSpPr/>
          <p:nvPr/>
        </p:nvSpPr>
        <p:spPr>
          <a:xfrm>
            <a:off x="9107424" y="1746504"/>
            <a:ext cx="2532888" cy="1097280"/>
          </a:xfrm>
          <a:prstGeom prst="roundRect">
            <a:avLst>
              <a:gd name="adj" fmla="val 4167"/>
            </a:avLst>
          </a:prstGeom>
          <a:solidFill>
            <a:srgbClr val="F4F6F7"/>
          </a:solidFill>
          <a:ln/>
        </p:spPr>
        <p:txBody>
          <a:bodyPr/>
          <a:lstStyle/>
          <a:p>
            <a:endParaRPr lang="en-IN"/>
          </a:p>
        </p:txBody>
      </p:sp>
      <p:sp>
        <p:nvSpPr>
          <p:cNvPr id="57" name="Shape 19">
            <a:extLst>
              <a:ext uri="{FF2B5EF4-FFF2-40B4-BE49-F238E27FC236}">
                <a16:creationId xmlns:a16="http://schemas.microsoft.com/office/drawing/2014/main" id="{DE86B410-CCD2-28D4-16DB-7DEDC8C2AD72}"/>
              </a:ext>
            </a:extLst>
          </p:cNvPr>
          <p:cNvSpPr/>
          <p:nvPr/>
        </p:nvSpPr>
        <p:spPr>
          <a:xfrm>
            <a:off x="9107424" y="1746504"/>
            <a:ext cx="2532888" cy="45720"/>
          </a:xfrm>
          <a:prstGeom prst="rect">
            <a:avLst/>
          </a:prstGeom>
          <a:solidFill>
            <a:srgbClr val="2E7D5B"/>
          </a:solidFill>
          <a:ln/>
        </p:spPr>
        <p:txBody>
          <a:bodyPr/>
          <a:lstStyle/>
          <a:p>
            <a:endParaRPr lang="en-IN"/>
          </a:p>
        </p:txBody>
      </p:sp>
      <p:sp>
        <p:nvSpPr>
          <p:cNvPr id="59" name="Text 20">
            <a:extLst>
              <a:ext uri="{FF2B5EF4-FFF2-40B4-BE49-F238E27FC236}">
                <a16:creationId xmlns:a16="http://schemas.microsoft.com/office/drawing/2014/main" id="{3F1463E5-4DE9-1685-75D6-3798C146B39E}"/>
              </a:ext>
            </a:extLst>
          </p:cNvPr>
          <p:cNvSpPr txBox="1"/>
          <p:nvPr/>
        </p:nvSpPr>
        <p:spPr>
          <a:xfrm>
            <a:off x="9217152" y="1837944"/>
            <a:ext cx="2313432" cy="182880"/>
          </a:xfrm>
          <a:prstGeom prst="rect">
            <a:avLst/>
          </a:prstGeom>
          <a:noFill/>
          <a:ln/>
        </p:spPr>
        <p:txBody>
          <a:bodyPr wrap="square" lIns="0" tIns="0" rIns="0" bIns="0" rtlCol="0" anchor="ctr"/>
          <a:lstStyle/>
          <a:p>
            <a:pPr marL="0" indent="0">
              <a:buNone/>
            </a:pPr>
            <a:r>
              <a:rPr lang="en-US" sz="750" b="1" kern="0" spc="50" dirty="0">
                <a:solidFill>
                  <a:srgbClr val="2E7D5B"/>
                </a:solidFill>
                <a:latin typeface="Calibri" pitchFamily="34" charset="0"/>
                <a:ea typeface="Calibri" pitchFamily="34" charset="-122"/>
                <a:cs typeface="Calibri" pitchFamily="34" charset="-120"/>
              </a:rPr>
              <a:t>VERIFICATION</a:t>
            </a:r>
            <a:endParaRPr lang="en-US" sz="750" dirty="0"/>
          </a:p>
        </p:txBody>
      </p:sp>
      <p:sp>
        <p:nvSpPr>
          <p:cNvPr id="61" name="Text 21">
            <a:extLst>
              <a:ext uri="{FF2B5EF4-FFF2-40B4-BE49-F238E27FC236}">
                <a16:creationId xmlns:a16="http://schemas.microsoft.com/office/drawing/2014/main" id="{53FA957B-B869-DABC-D8A7-2312FABFCAAF}"/>
              </a:ext>
            </a:extLst>
          </p:cNvPr>
          <p:cNvSpPr txBox="1"/>
          <p:nvPr/>
        </p:nvSpPr>
        <p:spPr>
          <a:xfrm>
            <a:off x="9217152" y="2020824"/>
            <a:ext cx="2313432" cy="731520"/>
          </a:xfrm>
          <a:prstGeom prst="rect">
            <a:avLst/>
          </a:prstGeom>
          <a:noFill/>
          <a:ln/>
        </p:spPr>
        <p:txBody>
          <a:bodyPr wrap="square" lIns="0" tIns="0" rIns="0" bIns="0" rtlCol="0" anchor="t"/>
          <a:lstStyle/>
          <a:p>
            <a:pPr marL="0" indent="0">
              <a:lnSpc>
                <a:spcPct val="108000"/>
              </a:lnSpc>
              <a:buNone/>
            </a:pPr>
            <a:r>
              <a:rPr lang="en-US" sz="830" dirty="0">
                <a:solidFill>
                  <a:srgbClr val="1A1A1A"/>
                </a:solidFill>
                <a:latin typeface="Calibri" pitchFamily="34" charset="0"/>
                <a:ea typeface="Calibri" pitchFamily="34" charset="-122"/>
                <a:cs typeface="Calibri" pitchFamily="34" charset="-120"/>
              </a:rPr>
              <a:t>Windows could reach the VyOS router; SNMP traffic flowed end-to-end</a:t>
            </a:r>
            <a:endParaRPr lang="en-US" sz="830" dirty="0"/>
          </a:p>
        </p:txBody>
      </p:sp>
      <p:sp>
        <p:nvSpPr>
          <p:cNvPr id="63" name="Text 22">
            <a:extLst>
              <a:ext uri="{FF2B5EF4-FFF2-40B4-BE49-F238E27FC236}">
                <a16:creationId xmlns:a16="http://schemas.microsoft.com/office/drawing/2014/main" id="{D54437D4-7711-0909-F4E3-9D47C61872F2}"/>
              </a:ext>
            </a:extLst>
          </p:cNvPr>
          <p:cNvSpPr txBox="1"/>
          <p:nvPr/>
        </p:nvSpPr>
        <p:spPr>
          <a:xfrm>
            <a:off x="548640" y="3090672"/>
            <a:ext cx="7772400" cy="256032"/>
          </a:xfrm>
          <a:prstGeom prst="rect">
            <a:avLst/>
          </a:prstGeom>
          <a:noFill/>
          <a:ln/>
        </p:spPr>
        <p:txBody>
          <a:bodyPr wrap="square" lIns="0" tIns="0" rIns="0" bIns="0" rtlCol="0" anchor="ctr"/>
          <a:lstStyle/>
          <a:p>
            <a:pPr marL="0" indent="0">
              <a:buNone/>
            </a:pPr>
            <a:r>
              <a:rPr lang="en-US" sz="1200" b="1" dirty="0">
                <a:solidFill>
                  <a:srgbClr val="1A1A1A"/>
                </a:solidFill>
                <a:latin typeface="Calibri" pitchFamily="34" charset="0"/>
                <a:ea typeface="Calibri" pitchFamily="34" charset="-122"/>
                <a:cs typeface="Calibri" pitchFamily="34" charset="-120"/>
              </a:rPr>
              <a:t>snmpd Configuration Corruption</a:t>
            </a:r>
            <a:endParaRPr lang="en-US" sz="1200" dirty="0"/>
          </a:p>
        </p:txBody>
      </p:sp>
      <p:sp>
        <p:nvSpPr>
          <p:cNvPr id="65" name="Shape 23">
            <a:extLst>
              <a:ext uri="{FF2B5EF4-FFF2-40B4-BE49-F238E27FC236}">
                <a16:creationId xmlns:a16="http://schemas.microsoft.com/office/drawing/2014/main" id="{4A9CCDD6-E39B-2686-83D3-105E2F4F458D}"/>
              </a:ext>
            </a:extLst>
          </p:cNvPr>
          <p:cNvSpPr/>
          <p:nvPr/>
        </p:nvSpPr>
        <p:spPr>
          <a:xfrm>
            <a:off x="548640" y="3419856"/>
            <a:ext cx="2532888" cy="1097280"/>
          </a:xfrm>
          <a:prstGeom prst="roundRect">
            <a:avLst>
              <a:gd name="adj" fmla="val 4167"/>
            </a:avLst>
          </a:prstGeom>
          <a:solidFill>
            <a:srgbClr val="F4F6F7"/>
          </a:solidFill>
          <a:ln/>
        </p:spPr>
        <p:txBody>
          <a:bodyPr/>
          <a:lstStyle/>
          <a:p>
            <a:endParaRPr lang="en-IN"/>
          </a:p>
        </p:txBody>
      </p:sp>
      <p:sp>
        <p:nvSpPr>
          <p:cNvPr id="67" name="Shape 24">
            <a:extLst>
              <a:ext uri="{FF2B5EF4-FFF2-40B4-BE49-F238E27FC236}">
                <a16:creationId xmlns:a16="http://schemas.microsoft.com/office/drawing/2014/main" id="{04BB1943-9536-3CDA-78B5-269F3454B8C8}"/>
              </a:ext>
            </a:extLst>
          </p:cNvPr>
          <p:cNvSpPr/>
          <p:nvPr/>
        </p:nvSpPr>
        <p:spPr>
          <a:xfrm>
            <a:off x="548640" y="3419856"/>
            <a:ext cx="2532888" cy="45720"/>
          </a:xfrm>
          <a:prstGeom prst="rect">
            <a:avLst/>
          </a:prstGeom>
          <a:solidFill>
            <a:srgbClr val="B23A2E"/>
          </a:solidFill>
          <a:ln/>
        </p:spPr>
        <p:txBody>
          <a:bodyPr/>
          <a:lstStyle/>
          <a:p>
            <a:endParaRPr lang="en-IN"/>
          </a:p>
        </p:txBody>
      </p:sp>
      <p:sp>
        <p:nvSpPr>
          <p:cNvPr id="69" name="Text 25">
            <a:extLst>
              <a:ext uri="{FF2B5EF4-FFF2-40B4-BE49-F238E27FC236}">
                <a16:creationId xmlns:a16="http://schemas.microsoft.com/office/drawing/2014/main" id="{756CC6A6-6B0C-5D4D-7153-1D9FC9D58142}"/>
              </a:ext>
            </a:extLst>
          </p:cNvPr>
          <p:cNvSpPr txBox="1"/>
          <p:nvPr/>
        </p:nvSpPr>
        <p:spPr>
          <a:xfrm>
            <a:off x="658368" y="3511296"/>
            <a:ext cx="2313432" cy="182880"/>
          </a:xfrm>
          <a:prstGeom prst="rect">
            <a:avLst/>
          </a:prstGeom>
          <a:noFill/>
          <a:ln/>
        </p:spPr>
        <p:txBody>
          <a:bodyPr wrap="square" lIns="0" tIns="0" rIns="0" bIns="0" rtlCol="0" anchor="ctr"/>
          <a:lstStyle/>
          <a:p>
            <a:pPr marL="0" indent="0">
              <a:buNone/>
            </a:pPr>
            <a:r>
              <a:rPr lang="en-US" sz="750" b="1" kern="0" spc="50" dirty="0">
                <a:solidFill>
                  <a:srgbClr val="B23A2E"/>
                </a:solidFill>
                <a:latin typeface="Calibri" pitchFamily="34" charset="0"/>
                <a:ea typeface="Calibri" pitchFamily="34" charset="-122"/>
                <a:cs typeface="Calibri" pitchFamily="34" charset="-120"/>
              </a:rPr>
              <a:t>PROBLEM</a:t>
            </a:r>
            <a:endParaRPr lang="en-US" sz="750" dirty="0"/>
          </a:p>
        </p:txBody>
      </p:sp>
      <p:sp>
        <p:nvSpPr>
          <p:cNvPr id="71" name="Text 26">
            <a:extLst>
              <a:ext uri="{FF2B5EF4-FFF2-40B4-BE49-F238E27FC236}">
                <a16:creationId xmlns:a16="http://schemas.microsoft.com/office/drawing/2014/main" id="{8C4704C6-C8BB-67AA-0F89-1FC04A6FE698}"/>
              </a:ext>
            </a:extLst>
          </p:cNvPr>
          <p:cNvSpPr txBox="1"/>
          <p:nvPr/>
        </p:nvSpPr>
        <p:spPr>
          <a:xfrm>
            <a:off x="658368" y="3694176"/>
            <a:ext cx="2313432" cy="731520"/>
          </a:xfrm>
          <a:prstGeom prst="rect">
            <a:avLst/>
          </a:prstGeom>
          <a:noFill/>
          <a:ln/>
        </p:spPr>
        <p:txBody>
          <a:bodyPr wrap="square" lIns="0" tIns="0" rIns="0" bIns="0" rtlCol="0" anchor="t"/>
          <a:lstStyle/>
          <a:p>
            <a:pPr marL="0" indent="0">
              <a:lnSpc>
                <a:spcPct val="108000"/>
              </a:lnSpc>
              <a:buNone/>
            </a:pPr>
            <a:r>
              <a:rPr lang="en-US" sz="830" dirty="0">
                <a:solidFill>
                  <a:srgbClr val="1A1A1A"/>
                </a:solidFill>
                <a:latin typeface="Calibri" pitchFamily="34" charset="0"/>
                <a:ea typeface="Calibri" pitchFamily="34" charset="-122"/>
                <a:cs typeface="Calibri" pitchFamily="34" charset="-120"/>
              </a:rPr>
              <a:t>snmpd repeatedly failed: “unknown token”, “error opening endpoint”</a:t>
            </a:r>
            <a:endParaRPr lang="en-US" sz="830" dirty="0"/>
          </a:p>
        </p:txBody>
      </p:sp>
      <p:sp>
        <p:nvSpPr>
          <p:cNvPr id="73" name="Shape 27">
            <a:extLst>
              <a:ext uri="{FF2B5EF4-FFF2-40B4-BE49-F238E27FC236}">
                <a16:creationId xmlns:a16="http://schemas.microsoft.com/office/drawing/2014/main" id="{353DDD20-0F1C-0CF6-EF73-E34700CCA240}"/>
              </a:ext>
            </a:extLst>
          </p:cNvPr>
          <p:cNvSpPr/>
          <p:nvPr/>
        </p:nvSpPr>
        <p:spPr>
          <a:xfrm>
            <a:off x="3099816" y="3968496"/>
            <a:ext cx="283464" cy="0"/>
          </a:xfrm>
          <a:prstGeom prst="line">
            <a:avLst/>
          </a:prstGeom>
          <a:noFill/>
          <a:ln w="15875">
            <a:solidFill>
              <a:srgbClr val="5A6169"/>
            </a:solidFill>
            <a:prstDash val="solid"/>
            <a:tailEnd type="triangle"/>
          </a:ln>
        </p:spPr>
        <p:txBody>
          <a:bodyPr/>
          <a:lstStyle/>
          <a:p>
            <a:endParaRPr lang="en-IN"/>
          </a:p>
        </p:txBody>
      </p:sp>
      <p:sp>
        <p:nvSpPr>
          <p:cNvPr id="75" name="Shape 28">
            <a:extLst>
              <a:ext uri="{FF2B5EF4-FFF2-40B4-BE49-F238E27FC236}">
                <a16:creationId xmlns:a16="http://schemas.microsoft.com/office/drawing/2014/main" id="{E39D4740-3FC0-BB47-F5D4-5432D71B07D4}"/>
              </a:ext>
            </a:extLst>
          </p:cNvPr>
          <p:cNvSpPr/>
          <p:nvPr/>
        </p:nvSpPr>
        <p:spPr>
          <a:xfrm>
            <a:off x="3401568" y="3419856"/>
            <a:ext cx="2532888" cy="1097280"/>
          </a:xfrm>
          <a:prstGeom prst="roundRect">
            <a:avLst>
              <a:gd name="adj" fmla="val 4167"/>
            </a:avLst>
          </a:prstGeom>
          <a:solidFill>
            <a:srgbClr val="F4F6F7"/>
          </a:solidFill>
          <a:ln/>
        </p:spPr>
        <p:txBody>
          <a:bodyPr/>
          <a:lstStyle/>
          <a:p>
            <a:endParaRPr lang="en-IN"/>
          </a:p>
        </p:txBody>
      </p:sp>
      <p:sp>
        <p:nvSpPr>
          <p:cNvPr id="77" name="Shape 29">
            <a:extLst>
              <a:ext uri="{FF2B5EF4-FFF2-40B4-BE49-F238E27FC236}">
                <a16:creationId xmlns:a16="http://schemas.microsoft.com/office/drawing/2014/main" id="{6B96A02C-0D32-5A98-1C87-48BBC88B21BC}"/>
              </a:ext>
            </a:extLst>
          </p:cNvPr>
          <p:cNvSpPr/>
          <p:nvPr/>
        </p:nvSpPr>
        <p:spPr>
          <a:xfrm>
            <a:off x="3401568" y="3419856"/>
            <a:ext cx="2532888" cy="45720"/>
          </a:xfrm>
          <a:prstGeom prst="rect">
            <a:avLst/>
          </a:prstGeom>
          <a:solidFill>
            <a:srgbClr val="C07A1E"/>
          </a:solidFill>
          <a:ln/>
        </p:spPr>
        <p:txBody>
          <a:bodyPr/>
          <a:lstStyle/>
          <a:p>
            <a:endParaRPr lang="en-IN"/>
          </a:p>
        </p:txBody>
      </p:sp>
      <p:sp>
        <p:nvSpPr>
          <p:cNvPr id="79" name="Text 30">
            <a:extLst>
              <a:ext uri="{FF2B5EF4-FFF2-40B4-BE49-F238E27FC236}">
                <a16:creationId xmlns:a16="http://schemas.microsoft.com/office/drawing/2014/main" id="{8EB6E94C-9DD8-EE85-8581-7820D6106B36}"/>
              </a:ext>
            </a:extLst>
          </p:cNvPr>
          <p:cNvSpPr txBox="1"/>
          <p:nvPr/>
        </p:nvSpPr>
        <p:spPr>
          <a:xfrm>
            <a:off x="3511296" y="3511296"/>
            <a:ext cx="2313432" cy="182880"/>
          </a:xfrm>
          <a:prstGeom prst="rect">
            <a:avLst/>
          </a:prstGeom>
          <a:noFill/>
          <a:ln/>
        </p:spPr>
        <p:txBody>
          <a:bodyPr wrap="square" lIns="0" tIns="0" rIns="0" bIns="0" rtlCol="0" anchor="ctr"/>
          <a:lstStyle/>
          <a:p>
            <a:pPr marL="0" indent="0">
              <a:buNone/>
            </a:pPr>
            <a:r>
              <a:rPr lang="en-US" sz="750" b="1" kern="0" spc="50" dirty="0">
                <a:solidFill>
                  <a:srgbClr val="C07A1E"/>
                </a:solidFill>
                <a:latin typeface="Calibri" pitchFamily="34" charset="0"/>
                <a:ea typeface="Calibri" pitchFamily="34" charset="-122"/>
                <a:cs typeface="Calibri" pitchFamily="34" charset="-120"/>
              </a:rPr>
              <a:t>INVESTIGATION</a:t>
            </a:r>
            <a:endParaRPr lang="en-US" sz="750" dirty="0"/>
          </a:p>
        </p:txBody>
      </p:sp>
      <p:sp>
        <p:nvSpPr>
          <p:cNvPr id="81" name="Text 31">
            <a:extLst>
              <a:ext uri="{FF2B5EF4-FFF2-40B4-BE49-F238E27FC236}">
                <a16:creationId xmlns:a16="http://schemas.microsoft.com/office/drawing/2014/main" id="{DD202323-009C-91C7-B238-C785038FC4C1}"/>
              </a:ext>
            </a:extLst>
          </p:cNvPr>
          <p:cNvSpPr txBox="1"/>
          <p:nvPr/>
        </p:nvSpPr>
        <p:spPr>
          <a:xfrm>
            <a:off x="3511296" y="3694176"/>
            <a:ext cx="2313432" cy="731520"/>
          </a:xfrm>
          <a:prstGeom prst="rect">
            <a:avLst/>
          </a:prstGeom>
          <a:noFill/>
          <a:ln/>
        </p:spPr>
        <p:txBody>
          <a:bodyPr wrap="square" lIns="0" tIns="0" rIns="0" bIns="0" rtlCol="0" anchor="t"/>
          <a:lstStyle/>
          <a:p>
            <a:pPr marL="0" indent="0">
              <a:lnSpc>
                <a:spcPct val="108000"/>
              </a:lnSpc>
              <a:buNone/>
            </a:pPr>
            <a:r>
              <a:rPr lang="en-US" sz="830" dirty="0">
                <a:solidFill>
                  <a:srgbClr val="1A1A1A"/>
                </a:solidFill>
                <a:latin typeface="Calibri" pitchFamily="34" charset="0"/>
                <a:ea typeface="Calibri" pitchFamily="34" charset="-122"/>
                <a:cs typeface="Calibri" pitchFamily="34" charset="-120"/>
              </a:rPr>
              <a:t>Traced to duplicated/garbled agentAddress lines from repeated sed/heredoc edits</a:t>
            </a:r>
            <a:endParaRPr lang="en-US" sz="830" dirty="0"/>
          </a:p>
        </p:txBody>
      </p:sp>
      <p:sp>
        <p:nvSpPr>
          <p:cNvPr id="83" name="Shape 32">
            <a:extLst>
              <a:ext uri="{FF2B5EF4-FFF2-40B4-BE49-F238E27FC236}">
                <a16:creationId xmlns:a16="http://schemas.microsoft.com/office/drawing/2014/main" id="{A4801E9F-694E-0FC9-ACC5-63111FE0791D}"/>
              </a:ext>
            </a:extLst>
          </p:cNvPr>
          <p:cNvSpPr/>
          <p:nvPr/>
        </p:nvSpPr>
        <p:spPr>
          <a:xfrm>
            <a:off x="5952744" y="3968496"/>
            <a:ext cx="283464" cy="0"/>
          </a:xfrm>
          <a:prstGeom prst="line">
            <a:avLst/>
          </a:prstGeom>
          <a:noFill/>
          <a:ln w="15875">
            <a:solidFill>
              <a:srgbClr val="5A6169"/>
            </a:solidFill>
            <a:prstDash val="solid"/>
            <a:tailEnd type="triangle"/>
          </a:ln>
        </p:spPr>
        <p:txBody>
          <a:bodyPr/>
          <a:lstStyle/>
          <a:p>
            <a:endParaRPr lang="en-IN"/>
          </a:p>
        </p:txBody>
      </p:sp>
      <p:sp>
        <p:nvSpPr>
          <p:cNvPr id="85" name="Shape 33">
            <a:extLst>
              <a:ext uri="{FF2B5EF4-FFF2-40B4-BE49-F238E27FC236}">
                <a16:creationId xmlns:a16="http://schemas.microsoft.com/office/drawing/2014/main" id="{F27A3F5A-E321-33A6-633A-CE1963356C90}"/>
              </a:ext>
            </a:extLst>
          </p:cNvPr>
          <p:cNvSpPr/>
          <p:nvPr/>
        </p:nvSpPr>
        <p:spPr>
          <a:xfrm>
            <a:off x="6254496" y="3419856"/>
            <a:ext cx="2532888" cy="1097280"/>
          </a:xfrm>
          <a:prstGeom prst="roundRect">
            <a:avLst>
              <a:gd name="adj" fmla="val 4167"/>
            </a:avLst>
          </a:prstGeom>
          <a:solidFill>
            <a:srgbClr val="F4F6F7"/>
          </a:solidFill>
          <a:ln/>
        </p:spPr>
        <p:txBody>
          <a:bodyPr/>
          <a:lstStyle/>
          <a:p>
            <a:endParaRPr lang="en-IN"/>
          </a:p>
        </p:txBody>
      </p:sp>
      <p:sp>
        <p:nvSpPr>
          <p:cNvPr id="87" name="Shape 34">
            <a:extLst>
              <a:ext uri="{FF2B5EF4-FFF2-40B4-BE49-F238E27FC236}">
                <a16:creationId xmlns:a16="http://schemas.microsoft.com/office/drawing/2014/main" id="{BE0CCBD1-FADB-26A2-4A36-5467989F902E}"/>
              </a:ext>
            </a:extLst>
          </p:cNvPr>
          <p:cNvSpPr/>
          <p:nvPr/>
        </p:nvSpPr>
        <p:spPr>
          <a:xfrm>
            <a:off x="6254496" y="3419856"/>
            <a:ext cx="2532888" cy="45720"/>
          </a:xfrm>
          <a:prstGeom prst="rect">
            <a:avLst/>
          </a:prstGeom>
          <a:solidFill>
            <a:srgbClr val="0E6E8C"/>
          </a:solidFill>
          <a:ln/>
        </p:spPr>
        <p:txBody>
          <a:bodyPr/>
          <a:lstStyle/>
          <a:p>
            <a:endParaRPr lang="en-IN"/>
          </a:p>
        </p:txBody>
      </p:sp>
      <p:sp>
        <p:nvSpPr>
          <p:cNvPr id="89" name="Text 35">
            <a:extLst>
              <a:ext uri="{FF2B5EF4-FFF2-40B4-BE49-F238E27FC236}">
                <a16:creationId xmlns:a16="http://schemas.microsoft.com/office/drawing/2014/main" id="{876E1B09-418E-AE40-3F37-ADA50A0E228A}"/>
              </a:ext>
            </a:extLst>
          </p:cNvPr>
          <p:cNvSpPr txBox="1"/>
          <p:nvPr/>
        </p:nvSpPr>
        <p:spPr>
          <a:xfrm>
            <a:off x="6364224" y="3511296"/>
            <a:ext cx="2313432" cy="182880"/>
          </a:xfrm>
          <a:prstGeom prst="rect">
            <a:avLst/>
          </a:prstGeom>
          <a:noFill/>
          <a:ln/>
        </p:spPr>
        <p:txBody>
          <a:bodyPr wrap="square" lIns="0" tIns="0" rIns="0" bIns="0" rtlCol="0" anchor="ctr"/>
          <a:lstStyle/>
          <a:p>
            <a:pPr marL="0" indent="0">
              <a:buNone/>
            </a:pPr>
            <a:r>
              <a:rPr lang="en-US" sz="750" b="1" kern="0" spc="50" dirty="0">
                <a:solidFill>
                  <a:srgbClr val="0E6E8C"/>
                </a:solidFill>
                <a:latin typeface="Calibri" pitchFamily="34" charset="0"/>
                <a:ea typeface="Calibri" pitchFamily="34" charset="-122"/>
                <a:cs typeface="Calibri" pitchFamily="34" charset="-120"/>
              </a:rPr>
              <a:t>FIX</a:t>
            </a:r>
            <a:endParaRPr lang="en-US" sz="750" dirty="0"/>
          </a:p>
        </p:txBody>
      </p:sp>
      <p:sp>
        <p:nvSpPr>
          <p:cNvPr id="91" name="Text 36">
            <a:extLst>
              <a:ext uri="{FF2B5EF4-FFF2-40B4-BE49-F238E27FC236}">
                <a16:creationId xmlns:a16="http://schemas.microsoft.com/office/drawing/2014/main" id="{E2DCF401-E0B2-98F5-3D53-37B9431329E5}"/>
              </a:ext>
            </a:extLst>
          </p:cNvPr>
          <p:cNvSpPr txBox="1"/>
          <p:nvPr/>
        </p:nvSpPr>
        <p:spPr>
          <a:xfrm>
            <a:off x="6364224" y="3694176"/>
            <a:ext cx="2313432" cy="731520"/>
          </a:xfrm>
          <a:prstGeom prst="rect">
            <a:avLst/>
          </a:prstGeom>
          <a:noFill/>
          <a:ln/>
        </p:spPr>
        <p:txBody>
          <a:bodyPr wrap="square" lIns="0" tIns="0" rIns="0" bIns="0" rtlCol="0" anchor="t"/>
          <a:lstStyle/>
          <a:p>
            <a:pPr marL="0" indent="0">
              <a:lnSpc>
                <a:spcPct val="108000"/>
              </a:lnSpc>
              <a:buNone/>
            </a:pPr>
            <a:r>
              <a:rPr lang="en-US" sz="830" dirty="0">
                <a:solidFill>
                  <a:srgbClr val="1A1A1A"/>
                </a:solidFill>
                <a:latin typeface="Calibri" pitchFamily="34" charset="0"/>
                <a:ea typeface="Calibri" pitchFamily="34" charset="-122"/>
                <a:cs typeface="Calibri" pitchFamily="34" charset="-120"/>
              </a:rPr>
              <a:t>Abandoned scripted edits; retyped a minimal, verified-clean config directly</a:t>
            </a:r>
            <a:endParaRPr lang="en-US" sz="830" dirty="0"/>
          </a:p>
        </p:txBody>
      </p:sp>
      <p:sp>
        <p:nvSpPr>
          <p:cNvPr id="93" name="Shape 37">
            <a:extLst>
              <a:ext uri="{FF2B5EF4-FFF2-40B4-BE49-F238E27FC236}">
                <a16:creationId xmlns:a16="http://schemas.microsoft.com/office/drawing/2014/main" id="{626EE2F0-7AF0-3B06-8792-62B7E62BA5B4}"/>
              </a:ext>
            </a:extLst>
          </p:cNvPr>
          <p:cNvSpPr/>
          <p:nvPr/>
        </p:nvSpPr>
        <p:spPr>
          <a:xfrm>
            <a:off x="8805672" y="3968496"/>
            <a:ext cx="283464" cy="0"/>
          </a:xfrm>
          <a:prstGeom prst="line">
            <a:avLst/>
          </a:prstGeom>
          <a:noFill/>
          <a:ln w="15875">
            <a:solidFill>
              <a:srgbClr val="5A6169"/>
            </a:solidFill>
            <a:prstDash val="solid"/>
            <a:tailEnd type="triangle"/>
          </a:ln>
        </p:spPr>
        <p:txBody>
          <a:bodyPr/>
          <a:lstStyle/>
          <a:p>
            <a:endParaRPr lang="en-IN"/>
          </a:p>
        </p:txBody>
      </p:sp>
      <p:sp>
        <p:nvSpPr>
          <p:cNvPr id="95" name="Shape 38">
            <a:extLst>
              <a:ext uri="{FF2B5EF4-FFF2-40B4-BE49-F238E27FC236}">
                <a16:creationId xmlns:a16="http://schemas.microsoft.com/office/drawing/2014/main" id="{D16AF721-E148-1604-773B-630A738801A8}"/>
              </a:ext>
            </a:extLst>
          </p:cNvPr>
          <p:cNvSpPr/>
          <p:nvPr/>
        </p:nvSpPr>
        <p:spPr>
          <a:xfrm>
            <a:off x="9107424" y="3419856"/>
            <a:ext cx="2532888" cy="1097280"/>
          </a:xfrm>
          <a:prstGeom prst="roundRect">
            <a:avLst>
              <a:gd name="adj" fmla="val 4167"/>
            </a:avLst>
          </a:prstGeom>
          <a:solidFill>
            <a:srgbClr val="F4F6F7"/>
          </a:solidFill>
          <a:ln/>
        </p:spPr>
        <p:txBody>
          <a:bodyPr/>
          <a:lstStyle/>
          <a:p>
            <a:endParaRPr lang="en-IN"/>
          </a:p>
        </p:txBody>
      </p:sp>
      <p:sp>
        <p:nvSpPr>
          <p:cNvPr id="97" name="Shape 39">
            <a:extLst>
              <a:ext uri="{FF2B5EF4-FFF2-40B4-BE49-F238E27FC236}">
                <a16:creationId xmlns:a16="http://schemas.microsoft.com/office/drawing/2014/main" id="{2A6E10A7-5209-30E1-3142-6B29B134EC1C}"/>
              </a:ext>
            </a:extLst>
          </p:cNvPr>
          <p:cNvSpPr/>
          <p:nvPr/>
        </p:nvSpPr>
        <p:spPr>
          <a:xfrm>
            <a:off x="9107424" y="3419856"/>
            <a:ext cx="2532888" cy="45720"/>
          </a:xfrm>
          <a:prstGeom prst="rect">
            <a:avLst/>
          </a:prstGeom>
          <a:solidFill>
            <a:srgbClr val="2E7D5B"/>
          </a:solidFill>
          <a:ln/>
        </p:spPr>
        <p:txBody>
          <a:bodyPr/>
          <a:lstStyle/>
          <a:p>
            <a:endParaRPr lang="en-IN"/>
          </a:p>
        </p:txBody>
      </p:sp>
      <p:sp>
        <p:nvSpPr>
          <p:cNvPr id="99" name="Text 40">
            <a:extLst>
              <a:ext uri="{FF2B5EF4-FFF2-40B4-BE49-F238E27FC236}">
                <a16:creationId xmlns:a16="http://schemas.microsoft.com/office/drawing/2014/main" id="{E3692A38-31AB-B2B4-689F-C0F5013068CE}"/>
              </a:ext>
            </a:extLst>
          </p:cNvPr>
          <p:cNvSpPr txBox="1"/>
          <p:nvPr/>
        </p:nvSpPr>
        <p:spPr>
          <a:xfrm>
            <a:off x="9217152" y="3511296"/>
            <a:ext cx="2313432" cy="182880"/>
          </a:xfrm>
          <a:prstGeom prst="rect">
            <a:avLst/>
          </a:prstGeom>
          <a:noFill/>
          <a:ln/>
        </p:spPr>
        <p:txBody>
          <a:bodyPr wrap="square" lIns="0" tIns="0" rIns="0" bIns="0" rtlCol="0" anchor="ctr"/>
          <a:lstStyle/>
          <a:p>
            <a:pPr marL="0" indent="0">
              <a:buNone/>
            </a:pPr>
            <a:r>
              <a:rPr lang="en-US" sz="750" b="1" kern="0" spc="50" dirty="0">
                <a:solidFill>
                  <a:srgbClr val="2E7D5B"/>
                </a:solidFill>
                <a:latin typeface="Calibri" pitchFamily="34" charset="0"/>
                <a:ea typeface="Calibri" pitchFamily="34" charset="-122"/>
                <a:cs typeface="Calibri" pitchFamily="34" charset="-120"/>
              </a:rPr>
              <a:t>VERIFICATION</a:t>
            </a:r>
            <a:endParaRPr lang="en-US" sz="750" dirty="0"/>
          </a:p>
        </p:txBody>
      </p:sp>
      <p:sp>
        <p:nvSpPr>
          <p:cNvPr id="101" name="Text 41">
            <a:extLst>
              <a:ext uri="{FF2B5EF4-FFF2-40B4-BE49-F238E27FC236}">
                <a16:creationId xmlns:a16="http://schemas.microsoft.com/office/drawing/2014/main" id="{ED72E1DD-955E-EEE3-28AF-E185D67E7B6C}"/>
              </a:ext>
            </a:extLst>
          </p:cNvPr>
          <p:cNvSpPr txBox="1"/>
          <p:nvPr/>
        </p:nvSpPr>
        <p:spPr>
          <a:xfrm>
            <a:off x="9217152" y="3694176"/>
            <a:ext cx="2313432" cy="731520"/>
          </a:xfrm>
          <a:prstGeom prst="rect">
            <a:avLst/>
          </a:prstGeom>
          <a:noFill/>
          <a:ln/>
        </p:spPr>
        <p:txBody>
          <a:bodyPr wrap="square" lIns="0" tIns="0" rIns="0" bIns="0" rtlCol="0" anchor="t"/>
          <a:lstStyle/>
          <a:p>
            <a:pPr marL="0" indent="0">
              <a:lnSpc>
                <a:spcPct val="108000"/>
              </a:lnSpc>
              <a:buNone/>
            </a:pPr>
            <a:r>
              <a:rPr lang="en-US" sz="830" dirty="0">
                <a:solidFill>
                  <a:srgbClr val="1A1A1A"/>
                </a:solidFill>
                <a:latin typeface="Calibri" pitchFamily="34" charset="0"/>
                <a:ea typeface="Calibri" pitchFamily="34" charset="-122"/>
                <a:cs typeface="Calibri" pitchFamily="34" charset="-120"/>
              </a:rPr>
              <a:t>snmpwalk returned a valid sysName — agent confirmed live</a:t>
            </a:r>
            <a:endParaRPr lang="en-US" sz="830" dirty="0"/>
          </a:p>
        </p:txBody>
      </p:sp>
      <p:sp>
        <p:nvSpPr>
          <p:cNvPr id="103" name="Text 42">
            <a:extLst>
              <a:ext uri="{FF2B5EF4-FFF2-40B4-BE49-F238E27FC236}">
                <a16:creationId xmlns:a16="http://schemas.microsoft.com/office/drawing/2014/main" id="{2CA053E2-2700-CE45-5A37-9799F26358EF}"/>
              </a:ext>
            </a:extLst>
          </p:cNvPr>
          <p:cNvSpPr txBox="1"/>
          <p:nvPr/>
        </p:nvSpPr>
        <p:spPr>
          <a:xfrm>
            <a:off x="548640" y="4764024"/>
            <a:ext cx="7772400" cy="256032"/>
          </a:xfrm>
          <a:prstGeom prst="rect">
            <a:avLst/>
          </a:prstGeom>
          <a:noFill/>
          <a:ln/>
        </p:spPr>
        <p:txBody>
          <a:bodyPr wrap="square" lIns="0" tIns="0" rIns="0" bIns="0" rtlCol="0" anchor="ctr"/>
          <a:lstStyle/>
          <a:p>
            <a:pPr marL="0" indent="0">
              <a:buNone/>
            </a:pPr>
            <a:r>
              <a:rPr lang="en-US" sz="1200" b="1" dirty="0">
                <a:solidFill>
                  <a:srgbClr val="1A1A1A"/>
                </a:solidFill>
                <a:latin typeface="Calibri" pitchFamily="34" charset="0"/>
                <a:ea typeface="Calibri" pitchFamily="34" charset="-122"/>
                <a:cs typeface="Calibri" pitchFamily="34" charset="-120"/>
              </a:rPr>
              <a:t>PostgreSQL / Docker — Password Mismatch</a:t>
            </a:r>
            <a:endParaRPr lang="en-US" sz="1200" dirty="0"/>
          </a:p>
        </p:txBody>
      </p:sp>
      <p:sp>
        <p:nvSpPr>
          <p:cNvPr id="105" name="Shape 43">
            <a:extLst>
              <a:ext uri="{FF2B5EF4-FFF2-40B4-BE49-F238E27FC236}">
                <a16:creationId xmlns:a16="http://schemas.microsoft.com/office/drawing/2014/main" id="{FB06217D-901F-90C6-4FA5-8FEEE0FF3671}"/>
              </a:ext>
            </a:extLst>
          </p:cNvPr>
          <p:cNvSpPr/>
          <p:nvPr/>
        </p:nvSpPr>
        <p:spPr>
          <a:xfrm>
            <a:off x="548640" y="5093208"/>
            <a:ext cx="1794510" cy="1097280"/>
          </a:xfrm>
          <a:prstGeom prst="roundRect">
            <a:avLst>
              <a:gd name="adj" fmla="val 4167"/>
            </a:avLst>
          </a:prstGeom>
          <a:solidFill>
            <a:srgbClr val="F4F6F7"/>
          </a:solidFill>
          <a:ln/>
        </p:spPr>
        <p:txBody>
          <a:bodyPr/>
          <a:lstStyle/>
          <a:p>
            <a:endParaRPr lang="en-IN"/>
          </a:p>
        </p:txBody>
      </p:sp>
      <p:sp>
        <p:nvSpPr>
          <p:cNvPr id="107" name="Shape 44">
            <a:extLst>
              <a:ext uri="{FF2B5EF4-FFF2-40B4-BE49-F238E27FC236}">
                <a16:creationId xmlns:a16="http://schemas.microsoft.com/office/drawing/2014/main" id="{8F992080-B0F2-5028-5A78-FFAC716CBF2C}"/>
              </a:ext>
            </a:extLst>
          </p:cNvPr>
          <p:cNvSpPr/>
          <p:nvPr/>
        </p:nvSpPr>
        <p:spPr>
          <a:xfrm>
            <a:off x="548640" y="5093208"/>
            <a:ext cx="1794510" cy="45720"/>
          </a:xfrm>
          <a:prstGeom prst="rect">
            <a:avLst/>
          </a:prstGeom>
          <a:solidFill>
            <a:srgbClr val="B23A2E"/>
          </a:solidFill>
          <a:ln/>
        </p:spPr>
        <p:txBody>
          <a:bodyPr/>
          <a:lstStyle/>
          <a:p>
            <a:endParaRPr lang="en-IN"/>
          </a:p>
        </p:txBody>
      </p:sp>
      <p:sp>
        <p:nvSpPr>
          <p:cNvPr id="109" name="Text 45">
            <a:extLst>
              <a:ext uri="{FF2B5EF4-FFF2-40B4-BE49-F238E27FC236}">
                <a16:creationId xmlns:a16="http://schemas.microsoft.com/office/drawing/2014/main" id="{3F77D317-AA35-79F6-22C5-2EA04925D0D4}"/>
              </a:ext>
            </a:extLst>
          </p:cNvPr>
          <p:cNvSpPr txBox="1"/>
          <p:nvPr/>
        </p:nvSpPr>
        <p:spPr>
          <a:xfrm>
            <a:off x="658368" y="5184648"/>
            <a:ext cx="1575054" cy="182880"/>
          </a:xfrm>
          <a:prstGeom prst="rect">
            <a:avLst/>
          </a:prstGeom>
          <a:noFill/>
          <a:ln/>
        </p:spPr>
        <p:txBody>
          <a:bodyPr wrap="square" lIns="0" tIns="0" rIns="0" bIns="0" rtlCol="0" anchor="ctr"/>
          <a:lstStyle/>
          <a:p>
            <a:pPr marL="0" indent="0">
              <a:buNone/>
            </a:pPr>
            <a:r>
              <a:rPr lang="en-US" sz="750" b="1" kern="0" spc="50" dirty="0">
                <a:solidFill>
                  <a:srgbClr val="B23A2E"/>
                </a:solidFill>
                <a:latin typeface="Calibri" pitchFamily="34" charset="0"/>
                <a:ea typeface="Calibri" pitchFamily="34" charset="-122"/>
                <a:cs typeface="Calibri" pitchFamily="34" charset="-120"/>
              </a:rPr>
              <a:t>PROBLEM</a:t>
            </a:r>
            <a:endParaRPr lang="en-US" sz="750" dirty="0"/>
          </a:p>
        </p:txBody>
      </p:sp>
      <p:sp>
        <p:nvSpPr>
          <p:cNvPr id="111" name="Text 46">
            <a:extLst>
              <a:ext uri="{FF2B5EF4-FFF2-40B4-BE49-F238E27FC236}">
                <a16:creationId xmlns:a16="http://schemas.microsoft.com/office/drawing/2014/main" id="{EA16F3A3-500C-FE43-2803-E0CB250342C6}"/>
              </a:ext>
            </a:extLst>
          </p:cNvPr>
          <p:cNvSpPr txBox="1"/>
          <p:nvPr/>
        </p:nvSpPr>
        <p:spPr>
          <a:xfrm>
            <a:off x="658368" y="5367528"/>
            <a:ext cx="1575054" cy="731520"/>
          </a:xfrm>
          <a:prstGeom prst="rect">
            <a:avLst/>
          </a:prstGeom>
          <a:noFill/>
          <a:ln/>
        </p:spPr>
        <p:txBody>
          <a:bodyPr wrap="square" lIns="0" tIns="0" rIns="0" bIns="0" rtlCol="0" anchor="t"/>
          <a:lstStyle/>
          <a:p>
            <a:pPr marL="0" indent="0">
              <a:lnSpc>
                <a:spcPct val="108000"/>
              </a:lnSpc>
              <a:buNone/>
            </a:pPr>
            <a:r>
              <a:rPr lang="en-US" sz="830" dirty="0">
                <a:solidFill>
                  <a:srgbClr val="1A1A1A"/>
                </a:solidFill>
                <a:latin typeface="Calibri" pitchFamily="34" charset="0"/>
                <a:ea typeface="Calibri" pitchFamily="34" charset="-122"/>
                <a:cs typeface="Calibri" pitchFamily="34" charset="-120"/>
              </a:rPr>
              <a:t>Backend container crash-looped: “password authentication failed”</a:t>
            </a:r>
            <a:endParaRPr lang="en-US" sz="830" dirty="0"/>
          </a:p>
        </p:txBody>
      </p:sp>
      <p:sp>
        <p:nvSpPr>
          <p:cNvPr id="113" name="Shape 47">
            <a:extLst>
              <a:ext uri="{FF2B5EF4-FFF2-40B4-BE49-F238E27FC236}">
                <a16:creationId xmlns:a16="http://schemas.microsoft.com/office/drawing/2014/main" id="{E7532141-B00F-8B62-C336-030ED2EE488B}"/>
              </a:ext>
            </a:extLst>
          </p:cNvPr>
          <p:cNvSpPr/>
          <p:nvPr/>
        </p:nvSpPr>
        <p:spPr>
          <a:xfrm>
            <a:off x="2361438" y="5641848"/>
            <a:ext cx="283464" cy="0"/>
          </a:xfrm>
          <a:prstGeom prst="line">
            <a:avLst/>
          </a:prstGeom>
          <a:noFill/>
          <a:ln w="15875">
            <a:solidFill>
              <a:srgbClr val="5A6169"/>
            </a:solidFill>
            <a:prstDash val="solid"/>
            <a:tailEnd type="triangle"/>
          </a:ln>
        </p:spPr>
        <p:txBody>
          <a:bodyPr/>
          <a:lstStyle/>
          <a:p>
            <a:endParaRPr lang="en-IN"/>
          </a:p>
        </p:txBody>
      </p:sp>
      <p:sp>
        <p:nvSpPr>
          <p:cNvPr id="115" name="Shape 48">
            <a:extLst>
              <a:ext uri="{FF2B5EF4-FFF2-40B4-BE49-F238E27FC236}">
                <a16:creationId xmlns:a16="http://schemas.microsoft.com/office/drawing/2014/main" id="{9A77D2A8-DDCE-D6D5-5DF7-9CC4877CFBD0}"/>
              </a:ext>
            </a:extLst>
          </p:cNvPr>
          <p:cNvSpPr/>
          <p:nvPr/>
        </p:nvSpPr>
        <p:spPr>
          <a:xfrm>
            <a:off x="2663190" y="5093208"/>
            <a:ext cx="1794510" cy="1097280"/>
          </a:xfrm>
          <a:prstGeom prst="roundRect">
            <a:avLst>
              <a:gd name="adj" fmla="val 4167"/>
            </a:avLst>
          </a:prstGeom>
          <a:solidFill>
            <a:srgbClr val="F4F6F7"/>
          </a:solidFill>
          <a:ln/>
        </p:spPr>
        <p:txBody>
          <a:bodyPr/>
          <a:lstStyle/>
          <a:p>
            <a:endParaRPr lang="en-IN"/>
          </a:p>
        </p:txBody>
      </p:sp>
      <p:sp>
        <p:nvSpPr>
          <p:cNvPr id="117" name="Shape 49">
            <a:extLst>
              <a:ext uri="{FF2B5EF4-FFF2-40B4-BE49-F238E27FC236}">
                <a16:creationId xmlns:a16="http://schemas.microsoft.com/office/drawing/2014/main" id="{7FFD6AB1-197E-5148-11ED-9BB74347A669}"/>
              </a:ext>
            </a:extLst>
          </p:cNvPr>
          <p:cNvSpPr/>
          <p:nvPr/>
        </p:nvSpPr>
        <p:spPr>
          <a:xfrm>
            <a:off x="2663190" y="5093208"/>
            <a:ext cx="1794510" cy="45720"/>
          </a:xfrm>
          <a:prstGeom prst="rect">
            <a:avLst/>
          </a:prstGeom>
          <a:solidFill>
            <a:srgbClr val="C07A1E"/>
          </a:solidFill>
          <a:ln/>
        </p:spPr>
        <p:txBody>
          <a:bodyPr/>
          <a:lstStyle/>
          <a:p>
            <a:endParaRPr lang="en-IN"/>
          </a:p>
        </p:txBody>
      </p:sp>
      <p:sp>
        <p:nvSpPr>
          <p:cNvPr id="119" name="Text 50">
            <a:extLst>
              <a:ext uri="{FF2B5EF4-FFF2-40B4-BE49-F238E27FC236}">
                <a16:creationId xmlns:a16="http://schemas.microsoft.com/office/drawing/2014/main" id="{AAA9DB00-9344-7174-C71C-A9DBD635FD89}"/>
              </a:ext>
            </a:extLst>
          </p:cNvPr>
          <p:cNvSpPr txBox="1"/>
          <p:nvPr/>
        </p:nvSpPr>
        <p:spPr>
          <a:xfrm>
            <a:off x="2772918" y="5184648"/>
            <a:ext cx="1575054" cy="182880"/>
          </a:xfrm>
          <a:prstGeom prst="rect">
            <a:avLst/>
          </a:prstGeom>
          <a:noFill/>
          <a:ln/>
        </p:spPr>
        <p:txBody>
          <a:bodyPr wrap="square" lIns="0" tIns="0" rIns="0" bIns="0" rtlCol="0" anchor="ctr"/>
          <a:lstStyle/>
          <a:p>
            <a:pPr marL="0" indent="0">
              <a:buNone/>
            </a:pPr>
            <a:r>
              <a:rPr lang="en-US" sz="750" b="1" kern="0" spc="50" dirty="0">
                <a:solidFill>
                  <a:srgbClr val="C07A1E"/>
                </a:solidFill>
                <a:latin typeface="Calibri" pitchFamily="34" charset="0"/>
                <a:ea typeface="Calibri" pitchFamily="34" charset="-122"/>
                <a:cs typeface="Calibri" pitchFamily="34" charset="-120"/>
              </a:rPr>
              <a:t>INVESTIGATION</a:t>
            </a:r>
            <a:endParaRPr lang="en-US" sz="750" dirty="0"/>
          </a:p>
        </p:txBody>
      </p:sp>
      <p:sp>
        <p:nvSpPr>
          <p:cNvPr id="121" name="Text 51">
            <a:extLst>
              <a:ext uri="{FF2B5EF4-FFF2-40B4-BE49-F238E27FC236}">
                <a16:creationId xmlns:a16="http://schemas.microsoft.com/office/drawing/2014/main" id="{E6C963AA-3DBF-F793-7956-757333029C9D}"/>
              </a:ext>
            </a:extLst>
          </p:cNvPr>
          <p:cNvSpPr txBox="1"/>
          <p:nvPr/>
        </p:nvSpPr>
        <p:spPr>
          <a:xfrm>
            <a:off x="2772918" y="5367528"/>
            <a:ext cx="1575054" cy="731520"/>
          </a:xfrm>
          <a:prstGeom prst="rect">
            <a:avLst/>
          </a:prstGeom>
          <a:noFill/>
          <a:ln/>
        </p:spPr>
        <p:txBody>
          <a:bodyPr wrap="square" lIns="0" tIns="0" rIns="0" bIns="0" rtlCol="0" anchor="t"/>
          <a:lstStyle/>
          <a:p>
            <a:pPr marL="0" indent="0">
              <a:lnSpc>
                <a:spcPct val="108000"/>
              </a:lnSpc>
              <a:buNone/>
            </a:pPr>
            <a:r>
              <a:rPr lang="en-US" sz="830" dirty="0">
                <a:solidFill>
                  <a:srgbClr val="1A1A1A"/>
                </a:solidFill>
                <a:latin typeface="Calibri" pitchFamily="34" charset="0"/>
                <a:ea typeface="Calibri" pitchFamily="34" charset="-122"/>
                <a:cs typeface="Calibri" pitchFamily="34" charset="-120"/>
              </a:rPr>
              <a:t>Found Postgres sets its password only once, at first volume init — later .env changes don't apply</a:t>
            </a:r>
            <a:endParaRPr lang="en-US" sz="830" dirty="0"/>
          </a:p>
        </p:txBody>
      </p:sp>
      <p:sp>
        <p:nvSpPr>
          <p:cNvPr id="123" name="Shape 52">
            <a:extLst>
              <a:ext uri="{FF2B5EF4-FFF2-40B4-BE49-F238E27FC236}">
                <a16:creationId xmlns:a16="http://schemas.microsoft.com/office/drawing/2014/main" id="{60251919-96F9-DDFD-7879-81891F8528F4}"/>
              </a:ext>
            </a:extLst>
          </p:cNvPr>
          <p:cNvSpPr/>
          <p:nvPr/>
        </p:nvSpPr>
        <p:spPr>
          <a:xfrm>
            <a:off x="4475988" y="5641848"/>
            <a:ext cx="283464" cy="0"/>
          </a:xfrm>
          <a:prstGeom prst="line">
            <a:avLst/>
          </a:prstGeom>
          <a:noFill/>
          <a:ln w="15875">
            <a:solidFill>
              <a:srgbClr val="5A6169"/>
            </a:solidFill>
            <a:prstDash val="solid"/>
            <a:tailEnd type="triangle"/>
          </a:ln>
        </p:spPr>
        <p:txBody>
          <a:bodyPr/>
          <a:lstStyle/>
          <a:p>
            <a:endParaRPr lang="en-IN"/>
          </a:p>
        </p:txBody>
      </p:sp>
      <p:sp>
        <p:nvSpPr>
          <p:cNvPr id="125" name="Shape 53">
            <a:extLst>
              <a:ext uri="{FF2B5EF4-FFF2-40B4-BE49-F238E27FC236}">
                <a16:creationId xmlns:a16="http://schemas.microsoft.com/office/drawing/2014/main" id="{56C01983-9621-5A64-1AA0-4348E0CBEDF4}"/>
              </a:ext>
            </a:extLst>
          </p:cNvPr>
          <p:cNvSpPr/>
          <p:nvPr/>
        </p:nvSpPr>
        <p:spPr>
          <a:xfrm>
            <a:off x="4777740" y="5093208"/>
            <a:ext cx="1794510" cy="1097280"/>
          </a:xfrm>
          <a:prstGeom prst="roundRect">
            <a:avLst>
              <a:gd name="adj" fmla="val 4167"/>
            </a:avLst>
          </a:prstGeom>
          <a:solidFill>
            <a:srgbClr val="F4F6F7"/>
          </a:solidFill>
          <a:ln/>
        </p:spPr>
        <p:txBody>
          <a:bodyPr/>
          <a:lstStyle/>
          <a:p>
            <a:endParaRPr lang="en-IN"/>
          </a:p>
        </p:txBody>
      </p:sp>
      <p:sp>
        <p:nvSpPr>
          <p:cNvPr id="127" name="Shape 54">
            <a:extLst>
              <a:ext uri="{FF2B5EF4-FFF2-40B4-BE49-F238E27FC236}">
                <a16:creationId xmlns:a16="http://schemas.microsoft.com/office/drawing/2014/main" id="{6D5FE2A3-F799-052C-9AE0-19421A8A51CE}"/>
              </a:ext>
            </a:extLst>
          </p:cNvPr>
          <p:cNvSpPr/>
          <p:nvPr/>
        </p:nvSpPr>
        <p:spPr>
          <a:xfrm>
            <a:off x="4777740" y="5093208"/>
            <a:ext cx="1794510" cy="45720"/>
          </a:xfrm>
          <a:prstGeom prst="rect">
            <a:avLst/>
          </a:prstGeom>
          <a:solidFill>
            <a:srgbClr val="0E6E8C"/>
          </a:solidFill>
          <a:ln/>
        </p:spPr>
        <p:txBody>
          <a:bodyPr/>
          <a:lstStyle/>
          <a:p>
            <a:endParaRPr lang="en-IN"/>
          </a:p>
        </p:txBody>
      </p:sp>
      <p:sp>
        <p:nvSpPr>
          <p:cNvPr id="129" name="Text 55">
            <a:extLst>
              <a:ext uri="{FF2B5EF4-FFF2-40B4-BE49-F238E27FC236}">
                <a16:creationId xmlns:a16="http://schemas.microsoft.com/office/drawing/2014/main" id="{6A2868ED-E267-7D1D-4B78-6A7DF2048CBD}"/>
              </a:ext>
            </a:extLst>
          </p:cNvPr>
          <p:cNvSpPr txBox="1"/>
          <p:nvPr/>
        </p:nvSpPr>
        <p:spPr>
          <a:xfrm>
            <a:off x="4887468" y="5184648"/>
            <a:ext cx="1575054" cy="182880"/>
          </a:xfrm>
          <a:prstGeom prst="rect">
            <a:avLst/>
          </a:prstGeom>
          <a:noFill/>
          <a:ln/>
        </p:spPr>
        <p:txBody>
          <a:bodyPr wrap="square" lIns="0" tIns="0" rIns="0" bIns="0" rtlCol="0" anchor="ctr"/>
          <a:lstStyle/>
          <a:p>
            <a:pPr marL="0" indent="0">
              <a:buNone/>
            </a:pPr>
            <a:r>
              <a:rPr lang="en-US" sz="750" b="1" kern="0" spc="50" dirty="0">
                <a:solidFill>
                  <a:srgbClr val="0E6E8C"/>
                </a:solidFill>
                <a:latin typeface="Calibri" pitchFamily="34" charset="0"/>
                <a:ea typeface="Calibri" pitchFamily="34" charset="-122"/>
                <a:cs typeface="Calibri" pitchFamily="34" charset="-120"/>
              </a:rPr>
              <a:t>FIX</a:t>
            </a:r>
            <a:endParaRPr lang="en-US" sz="750" dirty="0"/>
          </a:p>
        </p:txBody>
      </p:sp>
      <p:sp>
        <p:nvSpPr>
          <p:cNvPr id="131" name="Text 56">
            <a:extLst>
              <a:ext uri="{FF2B5EF4-FFF2-40B4-BE49-F238E27FC236}">
                <a16:creationId xmlns:a16="http://schemas.microsoft.com/office/drawing/2014/main" id="{888D509A-6CB3-91B3-8C3D-D010CAE715C1}"/>
              </a:ext>
            </a:extLst>
          </p:cNvPr>
          <p:cNvSpPr txBox="1"/>
          <p:nvPr/>
        </p:nvSpPr>
        <p:spPr>
          <a:xfrm>
            <a:off x="4887468" y="5367528"/>
            <a:ext cx="1575054" cy="731520"/>
          </a:xfrm>
          <a:prstGeom prst="rect">
            <a:avLst/>
          </a:prstGeom>
          <a:noFill/>
          <a:ln/>
        </p:spPr>
        <p:txBody>
          <a:bodyPr wrap="square" lIns="0" tIns="0" rIns="0" bIns="0" rtlCol="0" anchor="t"/>
          <a:lstStyle/>
          <a:p>
            <a:pPr marL="0" indent="0">
              <a:lnSpc>
                <a:spcPct val="108000"/>
              </a:lnSpc>
              <a:buNone/>
            </a:pPr>
            <a:r>
              <a:rPr lang="en-US" sz="830" dirty="0">
                <a:solidFill>
                  <a:srgbClr val="1A1A1A"/>
                </a:solidFill>
                <a:latin typeface="Calibri" pitchFamily="34" charset="0"/>
                <a:ea typeface="Calibri" pitchFamily="34" charset="-122"/>
                <a:cs typeface="Calibri" pitchFamily="34" charset="-120"/>
              </a:rPr>
              <a:t>Cleared the stale data volume, let Postgres reinitialize with current credentials</a:t>
            </a:r>
            <a:endParaRPr lang="en-US" sz="830" dirty="0"/>
          </a:p>
        </p:txBody>
      </p:sp>
      <p:sp>
        <p:nvSpPr>
          <p:cNvPr id="133" name="Shape 57">
            <a:extLst>
              <a:ext uri="{FF2B5EF4-FFF2-40B4-BE49-F238E27FC236}">
                <a16:creationId xmlns:a16="http://schemas.microsoft.com/office/drawing/2014/main" id="{C90CEA90-7F0E-98E2-7BB9-939649F1AC1D}"/>
              </a:ext>
            </a:extLst>
          </p:cNvPr>
          <p:cNvSpPr/>
          <p:nvPr/>
        </p:nvSpPr>
        <p:spPr>
          <a:xfrm>
            <a:off x="6590538" y="5641848"/>
            <a:ext cx="283464" cy="0"/>
          </a:xfrm>
          <a:prstGeom prst="line">
            <a:avLst/>
          </a:prstGeom>
          <a:noFill/>
          <a:ln w="15875">
            <a:solidFill>
              <a:srgbClr val="5A6169"/>
            </a:solidFill>
            <a:prstDash val="solid"/>
            <a:tailEnd type="triangle"/>
          </a:ln>
        </p:spPr>
        <p:txBody>
          <a:bodyPr/>
          <a:lstStyle/>
          <a:p>
            <a:endParaRPr lang="en-IN"/>
          </a:p>
        </p:txBody>
      </p:sp>
      <p:sp>
        <p:nvSpPr>
          <p:cNvPr id="135" name="Shape 58">
            <a:extLst>
              <a:ext uri="{FF2B5EF4-FFF2-40B4-BE49-F238E27FC236}">
                <a16:creationId xmlns:a16="http://schemas.microsoft.com/office/drawing/2014/main" id="{98375060-EE87-4230-F87D-1B0E0B38E961}"/>
              </a:ext>
            </a:extLst>
          </p:cNvPr>
          <p:cNvSpPr/>
          <p:nvPr/>
        </p:nvSpPr>
        <p:spPr>
          <a:xfrm>
            <a:off x="6892290" y="5093208"/>
            <a:ext cx="1794510" cy="1097280"/>
          </a:xfrm>
          <a:prstGeom prst="roundRect">
            <a:avLst>
              <a:gd name="adj" fmla="val 4167"/>
            </a:avLst>
          </a:prstGeom>
          <a:solidFill>
            <a:srgbClr val="F4F6F7"/>
          </a:solidFill>
          <a:ln/>
        </p:spPr>
        <p:txBody>
          <a:bodyPr/>
          <a:lstStyle/>
          <a:p>
            <a:endParaRPr lang="en-IN"/>
          </a:p>
        </p:txBody>
      </p:sp>
      <p:sp>
        <p:nvSpPr>
          <p:cNvPr id="137" name="Shape 59">
            <a:extLst>
              <a:ext uri="{FF2B5EF4-FFF2-40B4-BE49-F238E27FC236}">
                <a16:creationId xmlns:a16="http://schemas.microsoft.com/office/drawing/2014/main" id="{278620D9-7DDB-2EC0-BF85-DC86CE1610B8}"/>
              </a:ext>
            </a:extLst>
          </p:cNvPr>
          <p:cNvSpPr/>
          <p:nvPr/>
        </p:nvSpPr>
        <p:spPr>
          <a:xfrm>
            <a:off x="6892290" y="5093208"/>
            <a:ext cx="1794510" cy="45720"/>
          </a:xfrm>
          <a:prstGeom prst="rect">
            <a:avLst/>
          </a:prstGeom>
          <a:solidFill>
            <a:srgbClr val="2E7D5B"/>
          </a:solidFill>
          <a:ln/>
        </p:spPr>
        <p:txBody>
          <a:bodyPr/>
          <a:lstStyle/>
          <a:p>
            <a:endParaRPr lang="en-IN"/>
          </a:p>
        </p:txBody>
      </p:sp>
      <p:sp>
        <p:nvSpPr>
          <p:cNvPr id="139" name="Text 60">
            <a:extLst>
              <a:ext uri="{FF2B5EF4-FFF2-40B4-BE49-F238E27FC236}">
                <a16:creationId xmlns:a16="http://schemas.microsoft.com/office/drawing/2014/main" id="{E6DEEBCA-C229-7677-2448-99C89737B604}"/>
              </a:ext>
            </a:extLst>
          </p:cNvPr>
          <p:cNvSpPr txBox="1"/>
          <p:nvPr/>
        </p:nvSpPr>
        <p:spPr>
          <a:xfrm>
            <a:off x="7002018" y="5184648"/>
            <a:ext cx="1575054" cy="182880"/>
          </a:xfrm>
          <a:prstGeom prst="rect">
            <a:avLst/>
          </a:prstGeom>
          <a:noFill/>
          <a:ln/>
        </p:spPr>
        <p:txBody>
          <a:bodyPr wrap="square" lIns="0" tIns="0" rIns="0" bIns="0" rtlCol="0" anchor="ctr"/>
          <a:lstStyle/>
          <a:p>
            <a:pPr marL="0" indent="0">
              <a:buNone/>
            </a:pPr>
            <a:r>
              <a:rPr lang="en-US" sz="750" b="1" kern="0" spc="50" dirty="0">
                <a:solidFill>
                  <a:srgbClr val="2E7D5B"/>
                </a:solidFill>
                <a:latin typeface="Calibri" pitchFamily="34" charset="0"/>
                <a:ea typeface="Calibri" pitchFamily="34" charset="-122"/>
                <a:cs typeface="Calibri" pitchFamily="34" charset="-120"/>
              </a:rPr>
              <a:t>VERIFICATION</a:t>
            </a:r>
            <a:endParaRPr lang="en-US" sz="750" dirty="0"/>
          </a:p>
        </p:txBody>
      </p:sp>
      <p:sp>
        <p:nvSpPr>
          <p:cNvPr id="141" name="Text 61">
            <a:extLst>
              <a:ext uri="{FF2B5EF4-FFF2-40B4-BE49-F238E27FC236}">
                <a16:creationId xmlns:a16="http://schemas.microsoft.com/office/drawing/2014/main" id="{A5F1226D-5AAA-73CC-9247-F5C7E315006A}"/>
              </a:ext>
            </a:extLst>
          </p:cNvPr>
          <p:cNvSpPr txBox="1"/>
          <p:nvPr/>
        </p:nvSpPr>
        <p:spPr>
          <a:xfrm>
            <a:off x="7002018" y="5367528"/>
            <a:ext cx="1575054" cy="731520"/>
          </a:xfrm>
          <a:prstGeom prst="rect">
            <a:avLst/>
          </a:prstGeom>
          <a:noFill/>
          <a:ln/>
        </p:spPr>
        <p:txBody>
          <a:bodyPr wrap="square" lIns="0" tIns="0" rIns="0" bIns="0" rtlCol="0" anchor="t"/>
          <a:lstStyle/>
          <a:p>
            <a:pPr marL="0" indent="0">
              <a:lnSpc>
                <a:spcPct val="108000"/>
              </a:lnSpc>
              <a:buNone/>
            </a:pPr>
            <a:r>
              <a:rPr lang="en-US" sz="830" dirty="0">
                <a:solidFill>
                  <a:srgbClr val="1A1A1A"/>
                </a:solidFill>
                <a:latin typeface="Calibri" pitchFamily="34" charset="0"/>
                <a:ea typeface="Calibri" pitchFamily="34" charset="-122"/>
                <a:cs typeface="Calibri" pitchFamily="34" charset="-120"/>
              </a:rPr>
              <a:t>docker compose ps showed backend healthy; telemetry resumed flowing</a:t>
            </a:r>
            <a:endParaRPr lang="en-US" sz="830" dirty="0"/>
          </a:p>
        </p:txBody>
      </p:sp>
      <p:pic>
        <p:nvPicPr>
          <p:cNvPr id="143" name="Image 0" descr="extracted/tc-010.png">
            <a:extLst>
              <a:ext uri="{FF2B5EF4-FFF2-40B4-BE49-F238E27FC236}">
                <a16:creationId xmlns:a16="http://schemas.microsoft.com/office/drawing/2014/main" id="{E4DE3DA6-BAD9-2223-E331-775A039138F5}"/>
              </a:ext>
            </a:extLst>
          </p:cNvPr>
          <p:cNvPicPr>
            <a:picLocks noChangeAspect="1"/>
          </p:cNvPicPr>
          <p:nvPr/>
        </p:nvPicPr>
        <p:blipFill>
          <a:blip r:embed="rId3"/>
          <a:srcRect/>
          <a:stretch/>
        </p:blipFill>
        <p:spPr>
          <a:xfrm>
            <a:off x="8823960" y="5093208"/>
            <a:ext cx="2816352" cy="1097280"/>
          </a:xfrm>
          <a:prstGeom prst="rect">
            <a:avLst/>
          </a:prstGeom>
        </p:spPr>
      </p:pic>
      <p:sp>
        <p:nvSpPr>
          <p:cNvPr id="145" name="Text 62">
            <a:extLst>
              <a:ext uri="{FF2B5EF4-FFF2-40B4-BE49-F238E27FC236}">
                <a16:creationId xmlns:a16="http://schemas.microsoft.com/office/drawing/2014/main" id="{72914647-4DB0-28AF-D3D7-BB912288A09E}"/>
              </a:ext>
            </a:extLst>
          </p:cNvPr>
          <p:cNvSpPr txBox="1"/>
          <p:nvPr/>
        </p:nvSpPr>
        <p:spPr>
          <a:xfrm>
            <a:off x="548640" y="6492240"/>
            <a:ext cx="7315200" cy="274320"/>
          </a:xfrm>
          <a:prstGeom prst="rect">
            <a:avLst/>
          </a:prstGeom>
          <a:noFill/>
          <a:ln/>
        </p:spPr>
        <p:txBody>
          <a:bodyPr wrap="square" lIns="0" tIns="0" rIns="0" bIns="0" rtlCol="0" anchor="ctr"/>
          <a:lstStyle/>
          <a:p>
            <a:pPr marL="0" indent="0">
              <a:buNone/>
            </a:pPr>
            <a:r>
              <a:rPr lang="en-US" sz="950" dirty="0">
                <a:solidFill>
                  <a:srgbClr val="5A6169"/>
                </a:solidFill>
                <a:latin typeface="Calibri" pitchFamily="34" charset="0"/>
                <a:ea typeface="Calibri" pitchFamily="34" charset="-122"/>
                <a:cs typeface="Calibri" pitchFamily="34" charset="-120"/>
              </a:rPr>
              <a:t>Network Telemetry &amp; Real-Time Network Performance Monitoring System</a:t>
            </a:r>
            <a:endParaRPr lang="en-US" sz="950" dirty="0"/>
          </a:p>
        </p:txBody>
      </p:sp>
      <p:sp>
        <p:nvSpPr>
          <p:cNvPr id="147" name="Text 63">
            <a:extLst>
              <a:ext uri="{FF2B5EF4-FFF2-40B4-BE49-F238E27FC236}">
                <a16:creationId xmlns:a16="http://schemas.microsoft.com/office/drawing/2014/main" id="{54167338-0E17-46BA-EA60-88A5332E6036}"/>
              </a:ext>
            </a:extLst>
          </p:cNvPr>
          <p:cNvSpPr txBox="1"/>
          <p:nvPr/>
        </p:nvSpPr>
        <p:spPr>
          <a:xfrm>
            <a:off x="11475720" y="6492240"/>
            <a:ext cx="640080" cy="274320"/>
          </a:xfrm>
          <a:prstGeom prst="rect">
            <a:avLst/>
          </a:prstGeom>
          <a:noFill/>
          <a:ln/>
        </p:spPr>
        <p:txBody>
          <a:bodyPr wrap="square" lIns="0" tIns="0" rIns="0" bIns="0" rtlCol="0" anchor="ctr"/>
          <a:lstStyle/>
          <a:p>
            <a:pPr marL="0" indent="0" algn="r">
              <a:buNone/>
            </a:pPr>
            <a:r>
              <a:rPr lang="en-US" sz="1000" dirty="0">
                <a:solidFill>
                  <a:srgbClr val="5A6169"/>
                </a:solidFill>
                <a:latin typeface="Calibri" pitchFamily="34" charset="0"/>
                <a:ea typeface="Calibri" pitchFamily="34" charset="-122"/>
                <a:cs typeface="Calibri" pitchFamily="34" charset="-120"/>
              </a:rPr>
              <a:t>05</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63</TotalTime>
  <Words>982</Words>
  <Application>Microsoft Office PowerPoint</Application>
  <PresentationFormat>Widescreen</PresentationFormat>
  <Paragraphs>157</Paragraphs>
  <Slides>6</Slides>
  <Notes>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Arial</vt:lpstr>
      <vt:lpstr>Calibri</vt:lpstr>
      <vt:lpstr>Cambria</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Sailaja M</cp:lastModifiedBy>
  <cp:revision>2</cp:revision>
  <dcterms:created xsi:type="dcterms:W3CDTF">2026-09-11T11:46:30Z</dcterms:created>
  <dcterms:modified xsi:type="dcterms:W3CDTF">2026-09-11T13:33:25Z</dcterms:modified>
</cp:coreProperties>
</file>